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4F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-1828800"/>
            <a:ext cx="5486400" cy="5486400"/>
          </a:xfrm>
          <a:prstGeom prst="ellipse">
            <a:avLst/>
          </a:prstGeom>
          <a:solidFill>
            <a:srgbClr val="395959"/>
          </a:solidFill>
          <a:ln>
            <a:solidFill>
              <a:srgbClr val="2F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5400" b="1">
                <a:solidFill>
                  <a:srgbClr val="FFFFFF"/>
                </a:solidFill>
                <a:latin typeface="Arial" panose="020B0604020202090204"/>
              </a:defRPr>
            </a:pPr>
            <a:r>
              <a:t>Measurement and Evaluation in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1000"/>
              </a:spcAft>
              <a:defRPr sz="2800">
                <a:solidFill>
                  <a:srgbClr val="F5F7F5"/>
                </a:solidFill>
                <a:latin typeface="Arial" panose="020B0604020202090204"/>
              </a:defRPr>
            </a:pPr>
            <a:r>
              <a:t>A Comprehensive Guide for Educators</a:t>
            </a:r>
          </a:p>
          <a:p>
            <a:pPr algn="ctr">
              <a:spcAft>
                <a:spcPts val="1000"/>
              </a:spcAft>
              <a:defRPr sz="2800">
                <a:solidFill>
                  <a:srgbClr val="F5F7F5"/>
                </a:solidFill>
                <a:latin typeface="Arial" panose="020B0604020202090204"/>
              </a:defRPr>
            </a:pPr>
            <a:r>
              <a:t>Enhancing Teaching and Learning through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140" y="1645920"/>
            <a:ext cx="10001885" cy="4527550"/>
          </a:xfrm>
        </p:spPr>
        <p:txBody>
          <a:bodyPr>
            <a:normAutofit fontScale="90000" lnSpcReduction="10000"/>
          </a:bodyPr>
          <a:lstStyle/>
          <a:p/>
          <a:p>
            <a:pPr>
              <a:spcAft>
                <a:spcPts val="1400"/>
              </a:spcAft>
              <a:defRPr sz="2800">
                <a:solidFill>
                  <a:srgbClr val="2F4F4F"/>
                </a:solidFill>
                <a:latin typeface="Arial" panose="020B0604020202090204"/>
              </a:defRPr>
            </a:pPr>
            <a:r>
              <a:t>Welcome, Educators!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Today's Focus: Understanding how we quantify learning and make value judgments.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Why it matters: Effective teaching relies on accurate feedback.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Goal: Move from intuition-based teaching to evidence-based instruction.</a:t>
            </a:r>
          </a:p>
          <a:p>
            <a:pPr>
              <a:spcAft>
                <a:spcPts val="1400"/>
              </a:spcAft>
              <a:defRPr sz="2800">
                <a:solidFill>
                  <a:srgbClr val="2F4F4F"/>
                </a:solidFill>
                <a:latin typeface="Arial" panose="020B0604020202090204"/>
              </a:defRPr>
            </a:pPr>
            <a:r>
              <a:t>Let's explore the core concepts of measurement, assessment, and evaluation.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F4F4F"/>
          </a:solidFill>
          <a:ln>
            <a:solidFill>
              <a:srgbClr val="2F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 panose="020B0604020202090204"/>
              </a:defRPr>
            </a:pPr>
            <a:r>
              <a:t>1. Welcome &amp;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Measurement &amp; Evaluation in 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6145" y="1645920"/>
            <a:ext cx="10340975" cy="4587240"/>
          </a:xfrm>
        </p:spPr>
        <p:txBody>
          <a:bodyPr>
            <a:normAutofit fontScale="90000"/>
          </a:bodyPr>
          <a:lstStyle/>
          <a:p/>
          <a:p>
            <a:pPr>
              <a:spcAft>
                <a:spcPts val="1400"/>
              </a:spcAft>
              <a:defRPr sz="2800">
                <a:solidFill>
                  <a:srgbClr val="2F4F4F"/>
                </a:solidFill>
                <a:latin typeface="Arial" panose="020B0604020202090204"/>
              </a:defRPr>
            </a:pPr>
            <a:r>
              <a:t>Define and differentiate Measurement, Assessment, and Evaluation.</a:t>
            </a:r>
          </a:p>
          <a:p>
            <a:pPr>
              <a:spcAft>
                <a:spcPts val="1400"/>
              </a:spcAft>
              <a:defRPr sz="2800">
                <a:solidFill>
                  <a:srgbClr val="2F4F4F"/>
                </a:solidFill>
                <a:latin typeface="Arial" panose="020B0604020202090204"/>
              </a:defRPr>
            </a:pPr>
            <a:r>
              <a:t>Understand the purposes and types of evaluation in the classroom.</a:t>
            </a:r>
          </a:p>
          <a:p>
            <a:pPr>
              <a:spcAft>
                <a:spcPts val="1400"/>
              </a:spcAft>
              <a:defRPr sz="2800">
                <a:solidFill>
                  <a:srgbClr val="2F4F4F"/>
                </a:solidFill>
                <a:latin typeface="Arial" panose="020B0604020202090204"/>
              </a:defRPr>
            </a:pPr>
            <a:r>
              <a:t>Identify the four scales of measurement.</a:t>
            </a:r>
          </a:p>
          <a:p>
            <a:pPr>
              <a:spcAft>
                <a:spcPts val="1400"/>
              </a:spcAft>
              <a:defRPr sz="2800">
                <a:solidFill>
                  <a:srgbClr val="2F4F4F"/>
                </a:solidFill>
                <a:latin typeface="Arial" panose="020B0604020202090204"/>
              </a:defRPr>
            </a:pPr>
            <a:r>
              <a:t>Explore the characteristics of good measuring instruments (Validity &amp; Reliability).</a:t>
            </a:r>
          </a:p>
          <a:p>
            <a:pPr>
              <a:spcAft>
                <a:spcPts val="1400"/>
              </a:spcAft>
              <a:defRPr sz="2800">
                <a:solidFill>
                  <a:srgbClr val="2F4F4F"/>
                </a:solidFill>
                <a:latin typeface="Arial" panose="020B0604020202090204"/>
              </a:defRPr>
            </a:pPr>
            <a:r>
              <a:t>Discuss practical applications and data-driven decision making.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F4F4F"/>
          </a:solidFill>
          <a:ln>
            <a:solidFill>
              <a:srgbClr val="2F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 panose="020B0604020202090204"/>
              </a:defRPr>
            </a:pPr>
            <a:r>
              <a:t>2. Objectives of this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Measurement &amp; Evaluation in 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6950" y="1645920"/>
            <a:ext cx="10250170" cy="4389120"/>
          </a:xfrm>
        </p:spPr>
        <p:txBody>
          <a:bodyPr>
            <a:normAutofit fontScale="70000"/>
          </a:bodyPr>
          <a:lstStyle/>
          <a:p/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Definition: The process of assigning numbers to individuals or their characteristics according to specific rules.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Focus: Quantitative data.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Answers the question: 'How much?' or 'How many?'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Examples in Education: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• Scoring 85% on a math test.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• Reading 120 words per minute.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• Answering 45 out of 50 questions correctly.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F4F4F"/>
          </a:solidFill>
          <a:ln>
            <a:solidFill>
              <a:srgbClr val="2F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 panose="020B0604020202090204"/>
              </a:defRPr>
            </a:pPr>
            <a:r>
              <a:t>3. What is Measurement?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Measurement &amp; Evaluation in 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61160"/>
            <a:ext cx="10515600" cy="4754245"/>
          </a:xfrm>
        </p:spPr>
        <p:txBody>
          <a:bodyPr>
            <a:normAutofit fontScale="90000" lnSpcReduction="20000"/>
          </a:bodyPr>
          <a:lstStyle/>
          <a:p/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Definition: The systematic process of determining the merit, value, or worth of something.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Focus: Qualitative judgment based on quantitative data.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Answers the question: 'How good is it?' or 'What does this mean?'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Examples in Education: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• Deciding that an 85% indicates 'Proficiency'.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• Determining if a reading intervention program was successful.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• Assigning a final letter grade (A, B, C) based on accumulated scores.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F4F4F"/>
          </a:solidFill>
          <a:ln>
            <a:solidFill>
              <a:srgbClr val="2F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 panose="020B0604020202090204"/>
              </a:defRPr>
            </a:pPr>
            <a:r>
              <a:t>4. What is Evaluation?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Measurement &amp; Evaluation in 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6755" y="1645920"/>
            <a:ext cx="10327640" cy="4511675"/>
          </a:xfrm>
        </p:spPr>
        <p:txBody>
          <a:bodyPr>
            <a:normAutofit fontScale="90000"/>
          </a:bodyPr>
          <a:lstStyle/>
          <a:p/>
          <a:p>
            <a:pPr>
              <a:spcAft>
                <a:spcPts val="1400"/>
              </a:spcAft>
              <a:defRPr sz="2800">
                <a:solidFill>
                  <a:srgbClr val="2F4F4F"/>
                </a:solidFill>
                <a:latin typeface="Arial" panose="020B0604020202090204"/>
              </a:defRPr>
            </a:pPr>
            <a:r>
              <a:t>Often used interchangeably with evaluation, but has a distinct nuance.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Definition: The process of gathering data to better understand the strengths and weaknesses of student learning.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Focus: Diagnostic and formative.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Purpose: To improve student learning and guide instruction.</a:t>
            </a:r>
          </a:p>
          <a:p>
            <a:pPr>
              <a:spcAft>
                <a:spcPts val="1400"/>
              </a:spcAft>
              <a:defRPr sz="2800">
                <a:solidFill>
                  <a:srgbClr val="2F4F4F"/>
                </a:solidFill>
                <a:latin typeface="Arial" panose="020B0604020202090204"/>
              </a:defRPr>
            </a:pPr>
            <a:r>
              <a:t>Assessment is the bridge between measurement (gathering the numbers) and evaluation (making the final judgment).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F4F4F"/>
          </a:solidFill>
          <a:ln>
            <a:solidFill>
              <a:srgbClr val="2F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 panose="020B0604020202090204"/>
              </a:defRPr>
            </a:pPr>
            <a:r>
              <a:t>5. What is Assessment?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Measurement &amp; Evaluation in 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5530" y="1645920"/>
            <a:ext cx="10181590" cy="4342130"/>
          </a:xfrm>
        </p:spPr>
        <p:txBody>
          <a:bodyPr>
            <a:normAutofit lnSpcReduction="20000"/>
          </a:bodyPr>
          <a:lstStyle/>
          <a:p/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rPr b="0"/>
              <a:t>Measurement: Collecting the raw data (e.g., You got 15/20 on a spelling test).</a:t>
            </a:r>
            <a:endParaRPr b="0"/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rPr b="0"/>
              <a:t>Assessment: Interpreting the data to inform instruction (e.g., You are struggling with 'ie' words; we need to review this rule).</a:t>
            </a:r>
            <a:endParaRPr b="0"/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rPr b="0"/>
              <a:t>Evaluation: Making a final judgment (e.g., You receive a 'C' on your report card for spelling).</a:t>
            </a:r>
            <a:endParaRPr b="0"/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rPr b="0"/>
              <a:t>Process flow: Measure -&gt; Assess -&gt; Evaluate.</a:t>
            </a:r>
            <a:endParaRPr b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F4F4F"/>
          </a:solidFill>
          <a:ln>
            <a:solidFill>
              <a:srgbClr val="2F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 panose="020B0604020202090204"/>
              </a:defRPr>
            </a:pPr>
            <a:r>
              <a:t>6. The Triad: How They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Measurement &amp; Evaluation in 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45920"/>
            <a:ext cx="10515600" cy="4349750"/>
          </a:xfrm>
        </p:spPr>
        <p:txBody>
          <a:bodyPr>
            <a:normAutofit lnSpcReduction="20000"/>
          </a:bodyPr>
          <a:lstStyle/>
          <a:p/>
          <a:p>
            <a:pPr>
              <a:spcAft>
                <a:spcPts val="1400"/>
              </a:spcAft>
              <a:defRPr sz="2800">
                <a:solidFill>
                  <a:srgbClr val="2F4F4F"/>
                </a:solidFill>
                <a:latin typeface="Arial" panose="020B0604020202090204"/>
              </a:defRPr>
            </a:pPr>
            <a:r>
              <a:t>To determine student achievement and mastery of objectives.</a:t>
            </a:r>
          </a:p>
          <a:p>
            <a:pPr>
              <a:spcAft>
                <a:spcPts val="1400"/>
              </a:spcAft>
              <a:defRPr sz="2800">
                <a:solidFill>
                  <a:srgbClr val="2F4F4F"/>
                </a:solidFill>
                <a:latin typeface="Arial" panose="020B0604020202090204"/>
              </a:defRPr>
            </a:pPr>
            <a:r>
              <a:t>To provide meaningful feedback to students and parents.</a:t>
            </a:r>
          </a:p>
          <a:p>
            <a:pPr>
              <a:spcAft>
                <a:spcPts val="1400"/>
              </a:spcAft>
              <a:defRPr sz="2800">
                <a:solidFill>
                  <a:srgbClr val="2F4F4F"/>
                </a:solidFill>
                <a:latin typeface="Arial" panose="020B0604020202090204"/>
              </a:defRPr>
            </a:pPr>
            <a:r>
              <a:t>To identify learning difficulties and plan interventions.</a:t>
            </a:r>
          </a:p>
          <a:p>
            <a:pPr>
              <a:spcAft>
                <a:spcPts val="1400"/>
              </a:spcAft>
              <a:defRPr sz="2800">
                <a:solidFill>
                  <a:srgbClr val="2F4F4F"/>
                </a:solidFill>
                <a:latin typeface="Arial" panose="020B0604020202090204"/>
              </a:defRPr>
            </a:pPr>
            <a:r>
              <a:t>To judge the effectiveness of instructional strategies and curricula.</a:t>
            </a:r>
          </a:p>
          <a:p>
            <a:pPr>
              <a:spcAft>
                <a:spcPts val="1400"/>
              </a:spcAft>
              <a:defRPr sz="2800">
                <a:solidFill>
                  <a:srgbClr val="2F4F4F"/>
                </a:solidFill>
                <a:latin typeface="Arial" panose="020B0604020202090204"/>
              </a:defRPr>
            </a:pPr>
            <a:r>
              <a:t>To make administrative decisions (promotion, placement, graduation).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F4F4F"/>
          </a:solidFill>
          <a:ln>
            <a:solidFill>
              <a:srgbClr val="2F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 panose="020B0604020202090204"/>
              </a:defRPr>
            </a:pPr>
            <a:r>
              <a:t>7. Why Do We Evaluate?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Measurement &amp; Evaluation in 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0885" y="1645920"/>
            <a:ext cx="10516235" cy="4754245"/>
          </a:xfrm>
        </p:spPr>
        <p:txBody>
          <a:bodyPr>
            <a:normAutofit lnSpcReduction="20000"/>
          </a:bodyPr>
          <a:lstStyle/>
          <a:p/>
          <a:p>
            <a:pPr>
              <a:spcAft>
                <a:spcPts val="1400"/>
              </a:spcAft>
              <a:defRPr sz="2800">
                <a:solidFill>
                  <a:srgbClr val="2F4F4F"/>
                </a:solidFill>
                <a:latin typeface="Arial" panose="020B0604020202090204"/>
              </a:defRPr>
            </a:pPr>
            <a:r>
              <a:t>Must be based on clearly stated learning objectives.</a:t>
            </a:r>
          </a:p>
          <a:p>
            <a:pPr>
              <a:spcAft>
                <a:spcPts val="1400"/>
              </a:spcAft>
              <a:defRPr sz="2800">
                <a:solidFill>
                  <a:srgbClr val="2F4F4F"/>
                </a:solidFill>
                <a:latin typeface="Arial" panose="020B0604020202090204"/>
              </a:defRPr>
            </a:pPr>
            <a:r>
              <a:t>Should use a variety of techniques (not just one multiple-choice test).</a:t>
            </a:r>
          </a:p>
          <a:p>
            <a:pPr>
              <a:spcAft>
                <a:spcPts val="1400"/>
              </a:spcAft>
              <a:defRPr sz="2800">
                <a:solidFill>
                  <a:srgbClr val="2F4F4F"/>
                </a:solidFill>
                <a:latin typeface="Arial" panose="020B0604020202090204"/>
              </a:defRPr>
            </a:pPr>
            <a:r>
              <a:t>Must be a continuous, ongoing process, not a singular event.</a:t>
            </a:r>
          </a:p>
          <a:p>
            <a:pPr>
              <a:spcAft>
                <a:spcPts val="1400"/>
              </a:spcAft>
              <a:defRPr sz="2800">
                <a:solidFill>
                  <a:srgbClr val="2F4F4F"/>
                </a:solidFill>
                <a:latin typeface="Arial" panose="020B0604020202090204"/>
              </a:defRPr>
            </a:pPr>
            <a:r>
              <a:t>Should be comprehensive, assessing cognitive, affective, and psychomotor domains.</a:t>
            </a:r>
          </a:p>
          <a:p>
            <a:pPr>
              <a:spcAft>
                <a:spcPts val="1400"/>
              </a:spcAft>
              <a:defRPr sz="2800">
                <a:solidFill>
                  <a:srgbClr val="2F4F4F"/>
                </a:solidFill>
                <a:latin typeface="Arial" panose="020B0604020202090204"/>
              </a:defRPr>
            </a:pPr>
            <a:r>
              <a:t>The ultimate goal is the improvement of learning, not just labeling students.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F4F4F"/>
          </a:solidFill>
          <a:ln>
            <a:solidFill>
              <a:srgbClr val="2F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 panose="020B0604020202090204"/>
              </a:defRPr>
            </a:pPr>
            <a:r>
              <a:t>8. Core Principles of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Measurement &amp; Evaluation in 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0885" y="1645920"/>
            <a:ext cx="10075545" cy="4175760"/>
          </a:xfrm>
        </p:spPr>
        <p:txBody>
          <a:bodyPr>
            <a:normAutofit lnSpcReduction="20000"/>
          </a:bodyPr>
          <a:lstStyle/>
          <a:p/>
          <a:p>
            <a:pPr>
              <a:spcAft>
                <a:spcPts val="1400"/>
              </a:spcAft>
              <a:defRPr sz="2800">
                <a:solidFill>
                  <a:srgbClr val="2F4F4F"/>
                </a:solidFill>
                <a:latin typeface="Arial" panose="020B0604020202090204"/>
              </a:defRPr>
            </a:pPr>
            <a:r>
              <a:t>Evaluation strategies are categorized based on *when* they occur and *why* they are used.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The Four Main Types: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1. Placement Evaluation (Before Instruction)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2. Formative Evaluation (During Instruction)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3. Diagnostic Evaluation (During Instruction / Specialized)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4. Summative Evaluation (After Instruction)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F4F4F"/>
          </a:solidFill>
          <a:ln>
            <a:solidFill>
              <a:srgbClr val="2F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 panose="020B0604020202090204"/>
              </a:defRPr>
            </a:pPr>
            <a:r>
              <a:t>9. Types of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Measurement &amp; Evaluation in 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645920"/>
            <a:ext cx="10424795" cy="4754880"/>
          </a:xfrm>
        </p:spPr>
        <p:txBody>
          <a:bodyPr>
            <a:normAutofit fontScale="90000" lnSpcReduction="20000"/>
          </a:bodyPr>
          <a:lstStyle/>
          <a:p/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Purpose: To determine the student's entry behavior or baseline knowledge.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Timing: Administered before instruction begins.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Goal: To match the student with the right instructional level or course.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Examples: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• Readiness tests for kindergarten.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• Placement exams for college math or foreign languages.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• Pre-tests at the start of a new unit.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F4F4F"/>
          </a:solidFill>
          <a:ln>
            <a:solidFill>
              <a:srgbClr val="2F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 panose="020B0604020202090204"/>
              </a:defRPr>
            </a:pPr>
            <a:r>
              <a:t>10. Placement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Measurement &amp; Evaluation in 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425" y="1645920"/>
            <a:ext cx="10767695" cy="4206875"/>
          </a:xfrm>
        </p:spPr>
        <p:txBody>
          <a:bodyPr>
            <a:normAutofit fontScale="80000"/>
          </a:bodyPr>
          <a:lstStyle/>
          <a:p/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Purpose: To monitor learning progress and provide ongoing feedback.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Timing: Occurs continuously during the instructional process.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Goal: To identify learning errors that need to be corrected immediately.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Examples: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• Exit tickets and quick quizzes.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• Think-Pair-Share activities.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• Teacher observations and questioning during a lesson.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F4F4F"/>
          </a:solidFill>
          <a:ln>
            <a:solidFill>
              <a:srgbClr val="2F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 panose="020B0604020202090204"/>
              </a:defRPr>
            </a:pPr>
            <a:r>
              <a:t>11. Formative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Measurement &amp; Evaluation in 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9925" y="1645920"/>
            <a:ext cx="10577195" cy="4707255"/>
          </a:xfrm>
        </p:spPr>
        <p:txBody>
          <a:bodyPr>
            <a:normAutofit fontScale="70000"/>
          </a:bodyPr>
          <a:lstStyle/>
          <a:p/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Purpose: To discover the underlying causes of persistent learning difficulties.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Timing: Administered when a student continues to struggle despite formative interventions.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Goal: To formulate a specific remediation plan.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Examples: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• Specialized reading inventories.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• Psychological and cognitive assessments.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• Deep-dive math error analysis.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F4F4F"/>
          </a:solidFill>
          <a:ln>
            <a:solidFill>
              <a:srgbClr val="2F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 panose="020B0604020202090204"/>
              </a:defRPr>
            </a:pPr>
            <a:r>
              <a:t>12. Diagnostic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Measurement &amp; Evaluation in 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" y="1645920"/>
            <a:ext cx="10751820" cy="4283075"/>
          </a:xfrm>
        </p:spPr>
        <p:txBody>
          <a:bodyPr>
            <a:normAutofit fontScale="70000"/>
          </a:bodyPr>
          <a:lstStyle/>
          <a:p/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Purpose: To determine the extent to which instructional objectives have been achieved.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Timing: Administered at the end of a course, unit, or semester.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Goal: To assign grades, certify mastery, or evaluate curriculum effectiveness.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Examples: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• Final exams.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• End-of-unit projects or portfolios.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• Standardized state assessments.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F4F4F"/>
          </a:solidFill>
          <a:ln>
            <a:solidFill>
              <a:srgbClr val="2F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 panose="020B0604020202090204"/>
              </a:defRPr>
            </a:pPr>
            <a:r>
              <a:t>13. Summative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Measurement &amp; Evaluation in 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3745" y="1645920"/>
            <a:ext cx="10493375" cy="4411345"/>
          </a:xfrm>
        </p:spPr>
        <p:txBody>
          <a:bodyPr>
            <a:normAutofit lnSpcReduction="10000"/>
          </a:bodyPr>
          <a:lstStyle/>
          <a:p/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Analogy: When the chef tastes the soup, it is formative. When the guest tastes the soup, it is summative.</a:t>
            </a:r>
          </a:p>
          <a:p>
            <a:pPr>
              <a:spcAft>
                <a:spcPts val="1400"/>
              </a:spcAft>
              <a:defRPr sz="2800">
                <a:solidFill>
                  <a:srgbClr val="2F4F4F"/>
                </a:solidFill>
                <a:latin typeface="Arial" panose="020B0604020202090204"/>
              </a:defRPr>
            </a:pPr>
            <a:r>
              <a:t>Formative is for LEARNING (Assessment *for* Learning).</a:t>
            </a:r>
          </a:p>
          <a:p>
            <a:pPr>
              <a:spcAft>
                <a:spcPts val="1400"/>
              </a:spcAft>
              <a:defRPr sz="2800">
                <a:solidFill>
                  <a:srgbClr val="2F4F4F"/>
                </a:solidFill>
                <a:latin typeface="Arial" panose="020B0604020202090204"/>
              </a:defRPr>
            </a:pPr>
            <a:r>
              <a:t>Summative is of LEARNING (Assessment *of* Learning).</a:t>
            </a:r>
          </a:p>
          <a:p>
            <a:pPr>
              <a:spcAft>
                <a:spcPts val="1400"/>
              </a:spcAft>
              <a:defRPr sz="2800">
                <a:solidFill>
                  <a:srgbClr val="2F4F4F"/>
                </a:solidFill>
                <a:latin typeface="Arial" panose="020B0604020202090204"/>
              </a:defRPr>
            </a:pPr>
            <a:r>
              <a:t>Formative is low-stakes; Summative is high-stakes.</a:t>
            </a:r>
          </a:p>
          <a:p>
            <a:pPr>
              <a:spcAft>
                <a:spcPts val="1400"/>
              </a:spcAft>
              <a:defRPr sz="2800">
                <a:solidFill>
                  <a:srgbClr val="2F4F4F"/>
                </a:solidFill>
                <a:latin typeface="Arial" panose="020B0604020202090204"/>
              </a:defRPr>
            </a:pPr>
            <a:r>
              <a:t>Both are essential, but classrooms should heavily emphasize formative.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F4F4F"/>
          </a:solidFill>
          <a:ln>
            <a:solidFill>
              <a:srgbClr val="2F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 panose="020B0604020202090204"/>
              </a:defRPr>
            </a:pPr>
            <a:r>
              <a:t>14. Formative vs. Summative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Measurement &amp; Evaluation in 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9790" y="1645920"/>
            <a:ext cx="10387330" cy="4736465"/>
          </a:xfrm>
        </p:spPr>
        <p:txBody>
          <a:bodyPr>
            <a:normAutofit fontScale="80000"/>
          </a:bodyPr>
          <a:lstStyle/>
          <a:p/>
          <a:p>
            <a:pPr>
              <a:spcAft>
                <a:spcPts val="1400"/>
              </a:spcAft>
              <a:defRPr sz="2800">
                <a:solidFill>
                  <a:srgbClr val="2F4F4F"/>
                </a:solidFill>
                <a:latin typeface="Arial" panose="020B0604020202090204"/>
              </a:defRPr>
            </a:pPr>
            <a:r>
              <a:t>Before analyzing data, educators must understand the type of data they possess.</a:t>
            </a:r>
          </a:p>
          <a:p>
            <a:pPr>
              <a:spcAft>
                <a:spcPts val="1400"/>
              </a:spcAft>
              <a:defRPr sz="2800">
                <a:solidFill>
                  <a:srgbClr val="2F4F4F"/>
                </a:solidFill>
                <a:latin typeface="Arial" panose="020B0604020202090204"/>
              </a:defRPr>
            </a:pPr>
            <a:r>
              <a:t>Developed by S.S. Stevens, there are four levels of measurement scales: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1. Nominal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2. Ordinal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3. Interval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4. Ratio</a:t>
            </a:r>
          </a:p>
          <a:p>
            <a:pPr>
              <a:spcAft>
                <a:spcPts val="1400"/>
              </a:spcAft>
              <a:defRPr sz="2800">
                <a:solidFill>
                  <a:srgbClr val="2F4F4F"/>
                </a:solidFill>
                <a:latin typeface="Arial" panose="020B0604020202090204"/>
              </a:defRPr>
            </a:pPr>
            <a:r>
              <a:t>The scale determines what statistical operations can be performed on the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F4F4F"/>
          </a:solidFill>
          <a:ln>
            <a:solidFill>
              <a:srgbClr val="2F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 panose="020B0604020202090204"/>
              </a:defRPr>
            </a:pPr>
            <a:r>
              <a:t>15. Scales of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Measurement &amp; Evaluation in 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8505" y="1645920"/>
            <a:ext cx="10508615" cy="4499610"/>
          </a:xfrm>
        </p:spPr>
        <p:txBody>
          <a:bodyPr>
            <a:normAutofit fontScale="90000" lnSpcReduction="10000"/>
          </a:bodyPr>
          <a:lstStyle/>
          <a:p/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Nominal Scale: Categorizes data without any order or ranking.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• Examples: Student gender, eye color, pass/fail status, bus route number.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• Math allowed: Counting frequencies (mode).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Ordinal Scale: Categorizes data with a logical order or ranking, but intervals between ranks are unequal.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• Examples: Class rank (1st, 2nd, 3rd), Likert scales (Satisfied, Neutral, Dissatisfied), Letter grades (A, B, C).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• Math allowed: Median, percentiles.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F4F4F"/>
          </a:solidFill>
          <a:ln>
            <a:solidFill>
              <a:srgbClr val="2F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 panose="020B0604020202090204"/>
              </a:defRPr>
            </a:pPr>
            <a:r>
              <a:t>16. Nominal and Ordinal Scales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Measurement &amp; Evaluation in 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6280" y="1645920"/>
            <a:ext cx="10530840" cy="4602480"/>
          </a:xfrm>
        </p:spPr>
        <p:txBody>
          <a:bodyPr>
            <a:normAutofit fontScale="80000"/>
          </a:bodyPr>
          <a:lstStyle/>
          <a:p/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Interval Scale: Ordered data with equal intervals between values, but NO true zero.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• Examples: Temperature (Celsius/Fahrenheit), Standardized test scores (IQ scores).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• Math allowed: Addition, subtraction, mean, standard deviation.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Ratio Scale: Ordered data with equal intervals AND a true absolute zero.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• Examples: Height, weight, time taken to complete a test, number of words spelled correctly (0 means none).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• Math allowed: All mathematical operations.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F4F4F"/>
          </a:solidFill>
          <a:ln>
            <a:solidFill>
              <a:srgbClr val="2F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 panose="020B0604020202090204"/>
              </a:defRPr>
            </a:pPr>
            <a:r>
              <a:t>17. Interval and Ratio Scales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Measurement &amp; Evaluation in 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45920"/>
            <a:ext cx="10515600" cy="4282440"/>
          </a:xfrm>
        </p:spPr>
        <p:txBody>
          <a:bodyPr>
            <a:normAutofit lnSpcReduction="20000"/>
          </a:bodyPr>
          <a:lstStyle/>
          <a:p/>
          <a:p>
            <a:pPr>
              <a:spcAft>
                <a:spcPts val="1400"/>
              </a:spcAft>
              <a:defRPr sz="2800">
                <a:solidFill>
                  <a:srgbClr val="2F4F4F"/>
                </a:solidFill>
                <a:latin typeface="Arial" panose="020B0604020202090204"/>
              </a:defRPr>
            </a:pPr>
            <a:r>
              <a:t>A measuring instrument (like a test or rubric) must possess certain qualities to be useful.</a:t>
            </a:r>
          </a:p>
          <a:p>
            <a:pPr>
              <a:spcAft>
                <a:spcPts val="1400"/>
              </a:spcAft>
              <a:defRPr sz="2800">
                <a:solidFill>
                  <a:srgbClr val="2F4F4F"/>
                </a:solidFill>
                <a:latin typeface="Arial" panose="020B0604020202090204"/>
              </a:defRPr>
            </a:pPr>
            <a:r>
              <a:t>The three most critical characteristics are: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1. Validity (Does it measure what it's supposed to?)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2. Reliability (Is it consistent?)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3. Usability/Practicality (Is it reasonable to administer?)</a:t>
            </a:r>
          </a:p>
          <a:p>
            <a:pPr>
              <a:spcAft>
                <a:spcPts val="1400"/>
              </a:spcAft>
              <a:defRPr sz="2800">
                <a:solidFill>
                  <a:srgbClr val="2F4F4F"/>
                </a:solidFill>
                <a:latin typeface="Arial" panose="020B0604020202090204"/>
              </a:defRPr>
            </a:pPr>
            <a:r>
              <a:t>Without these, your data will lead to incorrect evaluations.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F4F4F"/>
          </a:solidFill>
          <a:ln>
            <a:solidFill>
              <a:srgbClr val="2F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 panose="020B0604020202090204"/>
              </a:defRPr>
            </a:pPr>
            <a:r>
              <a:t>18. Characteristics of Good Instruments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Measurement &amp; Evaluation in 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45920"/>
            <a:ext cx="10561320" cy="4479925"/>
          </a:xfrm>
        </p:spPr>
        <p:txBody>
          <a:bodyPr>
            <a:normAutofit fontScale="90000"/>
          </a:bodyPr>
          <a:lstStyle/>
          <a:p/>
          <a:p>
            <a:pPr>
              <a:spcAft>
                <a:spcPts val="1400"/>
              </a:spcAft>
              <a:defRPr sz="2800">
                <a:solidFill>
                  <a:srgbClr val="2F4F4F"/>
                </a:solidFill>
                <a:latin typeface="Arial" panose="020B0604020202090204"/>
              </a:defRPr>
            </a:pPr>
            <a:r>
              <a:t>Validity is the most important characteristic of any evaluation tool.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Definition: The degree to which a test measures what it claims to measure.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Example: A math test written in highly complex vocabulary might actually be measuring reading comprehension, not math skills. This test lacks validity.</a:t>
            </a:r>
          </a:p>
          <a:p>
            <a:pPr>
              <a:spcAft>
                <a:spcPts val="1400"/>
              </a:spcAft>
              <a:defRPr sz="2800">
                <a:solidFill>
                  <a:srgbClr val="2F4F4F"/>
                </a:solidFill>
                <a:latin typeface="Arial" panose="020B0604020202090204"/>
              </a:defRPr>
            </a:pPr>
            <a:r>
              <a:t>Validity is specific to the purpose. A test valid for 5th graders is not valid for 2nd graders.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F4F4F"/>
          </a:solidFill>
          <a:ln>
            <a:solidFill>
              <a:srgbClr val="2F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 panose="020B0604020202090204"/>
              </a:defRPr>
            </a:pPr>
            <a:r>
              <a:t>19. Understanding Validity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Measurement &amp; Evaluation in 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45920"/>
            <a:ext cx="10515600" cy="4710430"/>
          </a:xfrm>
        </p:spPr>
        <p:txBody>
          <a:bodyPr>
            <a:normAutofit fontScale="90000" lnSpcReduction="20000"/>
          </a:bodyPr>
          <a:lstStyle/>
          <a:p/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Content Validity: Does the test cover the entire range of material taught? (A biology test should not only cover cells if genetics was also taught).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Construct Validity: Does the test measure abstract theoretical concepts accurately? (e.g., measuring 'critical thinking' or 'anxiety').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Predictive Validity: Does the test accurately predict future performance? (e.g., SAT scores predicting college success).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Face Validity: Does the test 'look' like it measures what it should to the test-takers?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F4F4F"/>
          </a:solidFill>
          <a:ln>
            <a:solidFill>
              <a:srgbClr val="2F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 panose="020B0604020202090204"/>
              </a:defRPr>
            </a:pPr>
            <a:r>
              <a:t>20. Types of Validity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Measurement &amp; Evaluation in 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325" y="1645920"/>
            <a:ext cx="10805795" cy="4580890"/>
          </a:xfrm>
        </p:spPr>
        <p:txBody>
          <a:bodyPr>
            <a:normAutofit fontScale="90000" lnSpcReduction="10000"/>
          </a:bodyPr>
          <a:lstStyle/>
          <a:p/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Definition: The consistency, stability, and dependability of the scores.</a:t>
            </a:r>
          </a:p>
          <a:p>
            <a:pPr>
              <a:spcAft>
                <a:spcPts val="1400"/>
              </a:spcAft>
              <a:defRPr sz="2800">
                <a:solidFill>
                  <a:srgbClr val="2F4F4F"/>
                </a:solidFill>
                <a:latin typeface="Arial" panose="020B0604020202090204"/>
              </a:defRPr>
            </a:pPr>
            <a:r>
              <a:t>If a student takes the same test on Tuesday and Wednesday without learning anything new, their scores should be nearly identical.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Crucial Rule: A test can be reliable without being valid (e.g., a broken scale consistently shows you weigh 100 lbs), but a test CANNOT be valid if it is not reliable.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Factors affecting reliability: Guessing, ambiguous questions, environmental distractions.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F4F4F"/>
          </a:solidFill>
          <a:ln>
            <a:solidFill>
              <a:srgbClr val="2F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 panose="020B0604020202090204"/>
              </a:defRPr>
            </a:pPr>
            <a:r>
              <a:t>21. Understanding Reliability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Measurement &amp; Evaluation in 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9925" y="1645920"/>
            <a:ext cx="10577195" cy="4540885"/>
          </a:xfrm>
        </p:spPr>
        <p:txBody>
          <a:bodyPr>
            <a:normAutofit lnSpcReduction="20000"/>
          </a:bodyPr>
          <a:lstStyle/>
          <a:p/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Test-Retest Reliability: Giving the same test twice to the same group over a period of time.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Alternate-Form Reliability: Giving two different, but equivalent, versions of a test to the same group.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Internal Consistency: Checking if different items on the same test that measure the same construct yield similar results.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Inter-Rater Reliability: Ensuring that two different teachers grading the same essay give it similar scores.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F4F4F"/>
          </a:solidFill>
          <a:ln>
            <a:solidFill>
              <a:srgbClr val="2F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 panose="020B0604020202090204"/>
              </a:defRPr>
            </a:pPr>
            <a:r>
              <a:t>22. Types of Reliability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Measurement &amp; Evaluation in 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2790" y="1645920"/>
            <a:ext cx="10514330" cy="4358640"/>
          </a:xfrm>
        </p:spPr>
        <p:txBody>
          <a:bodyPr>
            <a:normAutofit lnSpcReduction="20000"/>
          </a:bodyPr>
          <a:lstStyle/>
          <a:p/>
          <a:p>
            <a:pPr>
              <a:spcAft>
                <a:spcPts val="1400"/>
              </a:spcAft>
              <a:defRPr sz="2800">
                <a:solidFill>
                  <a:srgbClr val="2F4F4F"/>
                </a:solidFill>
                <a:latin typeface="Arial" panose="020B0604020202090204"/>
              </a:defRPr>
            </a:pPr>
            <a:r>
              <a:t>A test can be valid and reliable, but useless if it is not practical.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Factors of Usability: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• Ease of Administration: Are the instructions clear? Is the time required reasonable?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• Ease of Scoring: Can the teacher score it quickly and objectively?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• Cost-Effectiveness: Is it affordable to print or host digitally?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• Interpretation: Are the results easy for teachers, students, and parents to understand?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F4F4F"/>
          </a:solidFill>
          <a:ln>
            <a:solidFill>
              <a:srgbClr val="2F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 panose="020B0604020202090204"/>
              </a:defRPr>
            </a:pPr>
            <a:r>
              <a:t>23. Usability (Practicality)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Measurement &amp; Evaluation in 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9295" y="1645920"/>
            <a:ext cx="10537825" cy="4358640"/>
          </a:xfrm>
        </p:spPr>
        <p:txBody>
          <a:bodyPr>
            <a:normAutofit fontScale="70000"/>
          </a:bodyPr>
          <a:lstStyle/>
          <a:p/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Quantitative Tools: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• Multiple-choice tests, true/false, matching.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• Fill-in-the-blank, short answer.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Qualitative Tools: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• Essays and extended responses.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• Portfolios and project-based assessments.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• Observational checklists and anecdotal records.</a:t>
            </a:r>
          </a:p>
          <a:p>
            <a:pPr>
              <a:spcAft>
                <a:spcPts val="1400"/>
              </a:spcAft>
              <a:defRPr sz="2800">
                <a:solidFill>
                  <a:srgbClr val="2F4F4F"/>
                </a:solidFill>
                <a:latin typeface="Arial" panose="020B0604020202090204"/>
              </a:defRPr>
            </a:pPr>
            <a:r>
              <a:t>A balanced classroom utilizes a mix of both.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F4F4F"/>
          </a:solidFill>
          <a:ln>
            <a:solidFill>
              <a:srgbClr val="2F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 panose="020B0604020202090204"/>
              </a:defRPr>
            </a:pPr>
            <a:r>
              <a:t>24. Tools of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Measurement &amp; Evaluation in 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580" y="1645920"/>
            <a:ext cx="10797540" cy="4526280"/>
          </a:xfrm>
        </p:spPr>
        <p:txBody>
          <a:bodyPr>
            <a:normAutofit lnSpcReduction="20000"/>
          </a:bodyPr>
          <a:lstStyle/>
          <a:p/>
          <a:p>
            <a:pPr>
              <a:spcAft>
                <a:spcPts val="1400"/>
              </a:spcAft>
              <a:defRPr sz="2800">
                <a:solidFill>
                  <a:srgbClr val="2F4F4F"/>
                </a:solidFill>
                <a:latin typeface="Arial" panose="020B0604020202090204"/>
              </a:defRPr>
            </a:pPr>
            <a:r>
              <a:t>Rubrics bridge the gap between subjective assignments (essays, projects) and objective measurement.</a:t>
            </a:r>
          </a:p>
          <a:p>
            <a:pPr>
              <a:spcAft>
                <a:spcPts val="1400"/>
              </a:spcAft>
              <a:defRPr sz="2800">
                <a:solidFill>
                  <a:srgbClr val="2F4F4F"/>
                </a:solidFill>
                <a:latin typeface="Arial" panose="020B0604020202090204"/>
              </a:defRPr>
            </a:pPr>
            <a:r>
              <a:t>A rubric explicitly outlines the criteria for success and the varying levels of performance.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Benefits: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• Increases Inter-Rater Reliability.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• Clarifies expectations for students before they begin work.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• Provides targeted, specific feedback rather than a generic grade.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F4F4F"/>
          </a:solidFill>
          <a:ln>
            <a:solidFill>
              <a:srgbClr val="2F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 panose="020B0604020202090204"/>
              </a:defRPr>
            </a:pPr>
            <a:r>
              <a:t>25. The Power of Rubrics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Measurement &amp; Evaluation in 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32720" cy="4389120"/>
          </a:xfrm>
        </p:spPr>
        <p:txBody>
          <a:bodyPr/>
          <a:lstStyle/>
          <a:p/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Quantitative Data: Tells you WHAT is happening.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• Example: 40% of the class failed the fraction quiz.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Qualitative Data: Tells you WHY it is happening.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• Example: Listening to a student explain their thought process reveals they misunderstand the concept of the denominator.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Best Practice: Triangulate data. Use both numbers and narrative observations to form a complete evaluation.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F4F4F"/>
          </a:solidFill>
          <a:ln>
            <a:solidFill>
              <a:srgbClr val="2F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 panose="020B0604020202090204"/>
              </a:defRPr>
            </a:pPr>
            <a:r>
              <a:t>26. Quantitative vs. Qualitative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Measurement &amp; Evaluation in 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6915" y="1645920"/>
            <a:ext cx="10530205" cy="4725670"/>
          </a:xfrm>
        </p:spPr>
        <p:txBody>
          <a:bodyPr>
            <a:normAutofit fontScale="90000" lnSpcReduction="10000"/>
          </a:bodyPr>
          <a:lstStyle/>
          <a:p/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Definition: Evaluating a student's ability to apply knowledge to real-world, complex problems.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Contrast: Traditional tests measure rote memorization; authentic tasks measure application.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Examples: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• Designing a budget rather than answering a multiple-choice math question.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• Debating a historical event rather than listing dates.</a:t>
            </a:r>
          </a:p>
          <a:p>
            <a:pPr>
              <a:spcAft>
                <a:spcPts val="1400"/>
              </a:spcAft>
              <a:defRPr sz="2800">
                <a:solidFill>
                  <a:srgbClr val="2F4F4F"/>
                </a:solidFill>
                <a:latin typeface="Arial" panose="020B0604020202090204"/>
              </a:defRPr>
            </a:pPr>
            <a:r>
              <a:t>Authentic assessments boast high construct validity.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F4F4F"/>
          </a:solidFill>
          <a:ln>
            <a:solidFill>
              <a:srgbClr val="2F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 panose="020B0604020202090204"/>
              </a:defRPr>
            </a:pPr>
            <a:r>
              <a:t>27. Authentic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Measurement &amp; Evaluation in 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0250" y="1645920"/>
            <a:ext cx="10516870" cy="4403090"/>
          </a:xfrm>
        </p:spPr>
        <p:txBody>
          <a:bodyPr>
            <a:normAutofit lnSpcReduction="10000"/>
          </a:bodyPr>
          <a:lstStyle/>
          <a:p/>
          <a:p>
            <a:pPr>
              <a:spcAft>
                <a:spcPts val="1400"/>
              </a:spcAft>
              <a:defRPr sz="2800">
                <a:solidFill>
                  <a:srgbClr val="2F4F4F"/>
                </a:solidFill>
                <a:latin typeface="Arial" panose="020B0604020202090204"/>
              </a:defRPr>
            </a:pPr>
            <a:r>
              <a:t>Measurement is useless if the data sits in a gradebook ignored.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How to use data: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• Reteaching: If 60% of the class misses question 4, reteach the concept.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• Grouping: Use formative data to create flexible, targeted small groups.</a:t>
            </a:r>
          </a:p>
          <a:p>
            <a:pPr lvl="1">
              <a:spcAft>
                <a:spcPts val="1400"/>
              </a:spcAft>
              <a:defRPr sz="2400">
                <a:solidFill>
                  <a:srgbClr val="464646"/>
                </a:solidFill>
                <a:latin typeface="Arial" panose="020B0604020202090204"/>
              </a:defRPr>
            </a:pPr>
            <a:r>
              <a:t>• Reflection: Evaluate your own pedagogical effectiveness.</a:t>
            </a:r>
          </a:p>
          <a:p>
            <a:pPr>
              <a:spcAft>
                <a:spcPts val="1400"/>
              </a:spcAft>
              <a:defRPr sz="2800">
                <a:solidFill>
                  <a:srgbClr val="2F4F4F"/>
                </a:solidFill>
                <a:latin typeface="Arial" panose="020B0604020202090204"/>
              </a:defRPr>
            </a:pPr>
            <a:r>
              <a:t>Data should drive tomorrow's lesson plan.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F4F4F"/>
          </a:solidFill>
          <a:ln>
            <a:solidFill>
              <a:srgbClr val="2F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 panose="020B0604020202090204"/>
              </a:defRPr>
            </a:pPr>
            <a:r>
              <a:t>28. Data-Driven Decision Making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Measurement &amp; Evaluation in 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0885" y="1645920"/>
            <a:ext cx="10516235" cy="4379595"/>
          </a:xfrm>
        </p:spPr>
        <p:txBody>
          <a:bodyPr>
            <a:normAutofit lnSpcReduction="20000"/>
          </a:bodyPr>
          <a:lstStyle/>
          <a:p/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The Halo Effect: Letting a student's good behavior artificially inflate their academic evaluation.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Over-Testing: Measuring so frequently that instructional time is severely compromised.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Teaching to the Test: Narrowing the curriculum simply to improve standardized measurement scores.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Ignoring Bias: Failing to recognize cultural or linguistic biases in your measurement tools.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F4F4F"/>
          </a:solidFill>
          <a:ln>
            <a:solidFill>
              <a:srgbClr val="2F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 panose="020B0604020202090204"/>
              </a:defRPr>
            </a:pPr>
            <a:r>
              <a:t>29. Common Pitfalls to Avoid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Measurement &amp; Evaluation in 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645920"/>
            <a:ext cx="10424160" cy="4373245"/>
          </a:xfrm>
        </p:spPr>
        <p:txBody>
          <a:bodyPr>
            <a:normAutofit lnSpcReduction="20000"/>
          </a:bodyPr>
          <a:lstStyle/>
          <a:p/>
          <a:p>
            <a:pPr>
              <a:spcAft>
                <a:spcPts val="1400"/>
              </a:spcAft>
              <a:defRPr sz="2800">
                <a:solidFill>
                  <a:srgbClr val="2F4F4F"/>
                </a:solidFill>
                <a:latin typeface="Arial" panose="020B0604020202090204"/>
              </a:defRPr>
            </a:pPr>
            <a:r>
              <a:t>Measurement gives us the numbers. Assessment helps us understand them. Evaluation allows us to act on them.</a:t>
            </a:r>
          </a:p>
          <a:p>
            <a:pPr>
              <a:spcAft>
                <a:spcPts val="1400"/>
              </a:spcAft>
              <a:defRPr sz="2800">
                <a:solidFill>
                  <a:srgbClr val="2F4F4F"/>
                </a:solidFill>
                <a:latin typeface="Arial" panose="020B0604020202090204"/>
              </a:defRPr>
            </a:pPr>
            <a:r>
              <a:t>By utilizing reliable and valid tools, we ensure equity and accuracy in our classrooms.</a:t>
            </a:r>
          </a:p>
          <a:p>
            <a:pPr>
              <a:spcAft>
                <a:spcPts val="1400"/>
              </a:spcAft>
              <a:defRPr sz="2800" b="1">
                <a:solidFill>
                  <a:srgbClr val="2F4F4F"/>
                </a:solidFill>
                <a:latin typeface="Arial" panose="020B0604020202090204"/>
              </a:defRPr>
            </a:pPr>
            <a:r>
              <a:t>Remember: The ultimate purpose of evaluation is the improvement of learning.</a:t>
            </a:r>
          </a:p>
          <a:p>
            <a:pPr>
              <a:spcAft>
                <a:spcPts val="1400"/>
              </a:spcAft>
              <a:defRPr sz="2800">
                <a:solidFill>
                  <a:srgbClr val="2F4F4F"/>
                </a:solidFill>
                <a:latin typeface="Arial" panose="020B0604020202090204"/>
              </a:defRPr>
            </a:pPr>
            <a:r>
              <a:t>Questions? Reflections? Thank you for your commitment to excellence in education!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F4F4F"/>
          </a:solidFill>
          <a:ln>
            <a:solidFill>
              <a:srgbClr val="2F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 panose="020B0604020202090204"/>
              </a:defRPr>
            </a:pPr>
            <a:r>
              <a:t>30. Conclusion &amp;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Measurement &amp; Evaluation in 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64646"/>
                </a:solidFill>
                <a:latin typeface="Arial" panose="020B0604020202090204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12887</Words>
  <Application>WPS Docs</Application>
  <PresentationFormat>On-screen Show (4:3)</PresentationFormat>
  <Paragraphs>383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2" baseType="lpstr">
      <vt:lpstr>Arial</vt:lpstr>
      <vt:lpstr>SimSun</vt:lpstr>
      <vt:lpstr>Wingdings</vt:lpstr>
      <vt:lpstr>Arial</vt:lpstr>
      <vt:lpstr>Calibri</vt:lpstr>
      <vt:lpstr>Helvetica Neue</vt:lpstr>
      <vt:lpstr>Microsoft YaHei</vt:lpstr>
      <vt:lpstr>汉仪旗黑</vt:lpstr>
      <vt:lpstr>Arial Unicode MS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Olumide</cp:lastModifiedBy>
  <cp:revision>2</cp:revision>
  <dcterms:created xsi:type="dcterms:W3CDTF">2026-06-07T19:00:39Z</dcterms:created>
  <dcterms:modified xsi:type="dcterms:W3CDTF">2026-06-07T19:00:39Z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634DE1134886B62DD7BF256A911A5B16_42</vt:lpwstr>
  </property>
  <property fmtid="{D5CDD505-2E9C-101B-9397-08002B2CF9AE}" pid="3" name="KSOProductBuildVer">
    <vt:lpwstr>1033-12.1.25897.25897</vt:lpwstr>
  </property>
</Properties>
</file>