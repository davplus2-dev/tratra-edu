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CLASS MANAGEMENT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943100"/>
            <a:ext cx="685800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Techniques, Tools &amp; Tactics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2423160"/>
            <a:ext cx="32004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0604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to building productive, engaged, and well-managed learning environments for educators at every level.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49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160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749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4160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749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51960" y="4160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4904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200" y="4160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COURSE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594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2588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3272" y="1216152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Class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61848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Principles, mindset, and the teacher's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377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377440"/>
            <a:ext cx="594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56032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33272" y="2450592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Rules &amp; Routines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33272" y="285292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structure that empowers learning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6118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611880"/>
            <a:ext cx="594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79476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33272" y="3685032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 Tactics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408736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students focused and inspired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28032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1143000"/>
            <a:ext cx="594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32588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13832" y="1216152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Tools &amp; Technology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13832" y="161848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and physical tools for better management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2377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2377440"/>
            <a:ext cx="594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56032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13832" y="2450592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&amp; Behavior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13832" y="285292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disruptions constructively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36118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28032" y="3611880"/>
            <a:ext cx="5943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79476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13832" y="3685032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Continuous Improvement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13832" y="408736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and refining your approach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 FOUNDATIONS OF CLASS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10972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Class Management?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1536192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management is the set of skills, strategies, and systems a teacher uses to create a safe, orderly, and productive learning environment. It encompasses everything from room setup and daily routines to student relationships and behaviour policies.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2560320"/>
            <a:ext cx="54864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issues before they arise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172968"/>
            <a:ext cx="54864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729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7413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and rapport with students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785616"/>
            <a:ext cx="54864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8561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8678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rules and expectations fairly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4398264"/>
            <a:ext cx="54864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39826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5994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evaluate and improve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097280"/>
            <a:ext cx="329184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1170432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85%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486400" y="1755648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learning issues 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management-related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2423160"/>
            <a:ext cx="329184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2496312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3×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86400" y="3081528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engagement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well-managed classes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749040"/>
            <a:ext cx="329184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3822192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40%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486400" y="4407408"/>
            <a:ext cx="3291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disciplinary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09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clear routines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 ESTABLISHING RULES &amp; ROUTINES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27432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Expectations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792224"/>
            <a:ext cx="164592" cy="164592"/>
          </a:xfrm>
          <a:prstGeom prst="ellipse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rules with students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2359152"/>
            <a:ext cx="164592" cy="164592"/>
          </a:xfrm>
          <a:prstGeom prst="ellipse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0428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rules positive &amp; specific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" y="2926080"/>
            <a:ext cx="164592" cy="164592"/>
          </a:xfrm>
          <a:prstGeom prst="ellipse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7121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rules visibly in class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" y="3493008"/>
            <a:ext cx="164592" cy="164592"/>
          </a:xfrm>
          <a:prstGeom prst="ellipse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3814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expectations regularly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" y="4059936"/>
            <a:ext cx="164592" cy="164592"/>
          </a:xfrm>
          <a:prstGeom prst="ellipse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0507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school-wide policies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73552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097280"/>
            <a:ext cx="2743200" cy="502920"/>
          </a:xfrm>
          <a:prstGeom prst="rect">
            <a:avLst/>
          </a:prstGeom>
          <a:solidFill>
            <a:srgbClr val="0D6B4F"/>
          </a:solidFill>
          <a:ln w="12700">
            <a:solidFill>
              <a:srgbClr val="0D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143000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10712" y="1792224"/>
            <a:ext cx="164592" cy="164592"/>
          </a:xfrm>
          <a:prstGeom prst="ellipse">
            <a:avLst/>
          </a:prstGeom>
          <a:solidFill>
            <a:srgbClr val="14A876"/>
          </a:solidFill>
          <a:ln w="12700">
            <a:solidFill>
              <a:srgbClr val="14A8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7373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&amp; exit procedures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2359152"/>
            <a:ext cx="164592" cy="164592"/>
          </a:xfrm>
          <a:prstGeom prst="ellipse">
            <a:avLst/>
          </a:prstGeom>
          <a:solidFill>
            <a:srgbClr val="14A876"/>
          </a:solidFill>
          <a:ln w="12700">
            <a:solidFill>
              <a:srgbClr val="14A8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30428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signals (bell, timer)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0712" y="2926080"/>
            <a:ext cx="164592" cy="164592"/>
          </a:xfrm>
          <a:prstGeom prst="ellipse">
            <a:avLst/>
          </a:prstGeom>
          <a:solidFill>
            <a:srgbClr val="14A876"/>
          </a:solidFill>
          <a:ln w="12700">
            <a:solidFill>
              <a:srgbClr val="14A8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87121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distribution systems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10712" y="3493008"/>
            <a:ext cx="164592" cy="164592"/>
          </a:xfrm>
          <a:prstGeom prst="ellipse">
            <a:avLst/>
          </a:prstGeom>
          <a:solidFill>
            <a:srgbClr val="14A876"/>
          </a:solidFill>
          <a:ln w="12700">
            <a:solidFill>
              <a:srgbClr val="14A8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43814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roll-call rituals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10712" y="4059936"/>
            <a:ext cx="164592" cy="164592"/>
          </a:xfrm>
          <a:prstGeom prst="ellipse">
            <a:avLst/>
          </a:prstGeom>
          <a:solidFill>
            <a:srgbClr val="14A876"/>
          </a:solidFill>
          <a:ln w="12700">
            <a:solidFill>
              <a:srgbClr val="14A8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400507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End-of-lesson wrap-up steps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9632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1097280"/>
            <a:ext cx="2743200" cy="502920"/>
          </a:xfrm>
          <a:prstGeom prst="rect">
            <a:avLst/>
          </a:prstGeom>
          <a:solidFill>
            <a:srgbClr val="7A3B00"/>
          </a:solidFill>
          <a:ln w="12700">
            <a:solidFill>
              <a:srgbClr val="7A3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143000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Keys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36792" y="1792224"/>
            <a:ext cx="164592" cy="164592"/>
          </a:xfrm>
          <a:prstGeom prst="ellipse">
            <a:avLst/>
          </a:prstGeom>
          <a:solidFill>
            <a:srgbClr val="C46800"/>
          </a:solidFill>
          <a:ln w="12700">
            <a:solidFill>
              <a:srgbClr val="C46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7373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rules to ALL students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2359152"/>
            <a:ext cx="164592" cy="164592"/>
          </a:xfrm>
          <a:prstGeom prst="ellipse">
            <a:avLst/>
          </a:prstGeom>
          <a:solidFill>
            <a:srgbClr val="C46800"/>
          </a:solidFill>
          <a:ln w="12700">
            <a:solidFill>
              <a:srgbClr val="C46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30428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calm, neutral tone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36792" y="2926080"/>
            <a:ext cx="164592" cy="164592"/>
          </a:xfrm>
          <a:prstGeom prst="ellipse">
            <a:avLst/>
          </a:prstGeom>
          <a:solidFill>
            <a:srgbClr val="C46800"/>
          </a:solidFill>
          <a:ln w="12700">
            <a:solidFill>
              <a:srgbClr val="C46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87121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through every time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36792" y="3493008"/>
            <a:ext cx="164592" cy="164592"/>
          </a:xfrm>
          <a:prstGeom prst="ellipse">
            <a:avLst/>
          </a:prstGeom>
          <a:solidFill>
            <a:srgbClr val="C46800"/>
          </a:solidFill>
          <a:ln w="12700">
            <a:solidFill>
              <a:srgbClr val="C46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343814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repeated issues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36792" y="4059936"/>
            <a:ext cx="164592" cy="164592"/>
          </a:xfrm>
          <a:prstGeom prst="ellipse">
            <a:avLst/>
          </a:prstGeom>
          <a:solidFill>
            <a:srgbClr val="C46800"/>
          </a:solidFill>
          <a:ln w="12700">
            <a:solidFill>
              <a:srgbClr val="C46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005072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parents early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 ENGAGEMENT &amp; MOTIVATION TACTICS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50292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4475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1887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Learning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41832" y="15544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Think-pair-share, group projects, peer teaching to boost ownership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36592" y="10972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1097280"/>
            <a:ext cx="502920" cy="1143000"/>
          </a:xfrm>
          <a:prstGeom prst="rect">
            <a:avLst/>
          </a:prstGeom>
          <a:solidFill>
            <a:srgbClr val="7A3B00"/>
          </a:solidFill>
          <a:ln w="12700">
            <a:solidFill>
              <a:srgbClr val="7A3B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4447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0952" y="11887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30952" y="15544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badges, leaderboards, and challenges to motivate effort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" y="24231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7472" y="2423160"/>
            <a:ext cx="502920" cy="1143000"/>
          </a:xfrm>
          <a:prstGeom prst="rect">
            <a:avLst/>
          </a:prstGeom>
          <a:solidFill>
            <a:srgbClr val="0D6B4F"/>
          </a:solidFill>
          <a:ln w="12700">
            <a:solidFill>
              <a:srgbClr val="0D6B4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7063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" y="25146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Questioning Techniques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41832" y="288036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calling, wait time, Socratic questioning to deepen thinking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36592" y="24231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36592" y="2423160"/>
            <a:ext cx="502920" cy="1143000"/>
          </a:xfrm>
          <a:prstGeom prst="rect">
            <a:avLst/>
          </a:prstGeom>
          <a:solidFill>
            <a:srgbClr val="5A0D6B"/>
          </a:solidFill>
          <a:ln w="12700">
            <a:solidFill>
              <a:srgbClr val="5A0D6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7063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30952" y="25146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Learning Goals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30952" y="288036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objectives upfront; students engage more when they know why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47472" y="37490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7472" y="3749040"/>
            <a:ext cx="502920" cy="1143000"/>
          </a:xfrm>
          <a:prstGeom prst="rect">
            <a:avLst/>
          </a:prstGeom>
          <a:solidFill>
            <a:srgbClr val="3B6B0D"/>
          </a:solidFill>
          <a:ln w="12700">
            <a:solidFill>
              <a:srgbClr val="3B6B0D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9651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1832" y="38404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Reinforcement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41832" y="420624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specific behaviours, not just results — privately and publicly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36592" y="37490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36592" y="3749040"/>
            <a:ext cx="502920" cy="1143000"/>
          </a:xfrm>
          <a:prstGeom prst="rect">
            <a:avLst/>
          </a:prstGeom>
          <a:solidFill>
            <a:srgbClr val="6B1A3A"/>
          </a:solidFill>
          <a:ln w="12700">
            <a:solidFill>
              <a:srgbClr val="6B1A3A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096512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30952" y="38404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Tasks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330952" y="420624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challenge to ability; avoid boredom and frustration 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 CLASSROOM TOOLS &amp; TECHNOLOGY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27432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&amp; Monitoring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912" y="11612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" y="1737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ClassDojo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19933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behaviour tracking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4632" y="24414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" y="26974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parent–teacher communication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" y="314553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Seesaw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" y="34015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portfolios &amp; check-ins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" y="384962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GoGuardian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" y="410565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monitoring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73552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73552" y="1097280"/>
            <a:ext cx="2743200" cy="502920"/>
          </a:xfrm>
          <a:prstGeom prst="rect">
            <a:avLst/>
          </a:prstGeom>
          <a:solidFill>
            <a:srgbClr val="0D6B4F"/>
          </a:solidFill>
          <a:ln w="12700">
            <a:solidFill>
              <a:srgbClr val="0D6B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1143000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Participation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16128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10712" y="1737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/ Quizizz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10712" y="19933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quiz games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410712" y="24414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 Deck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10712" y="26974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 responses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10712" y="314553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Everywhere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410712" y="34015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class polls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410712" y="384962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Flipgrid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410712" y="410565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discussion boards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199632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99632" y="1097280"/>
            <a:ext cx="2743200" cy="502920"/>
          </a:xfrm>
          <a:prstGeom prst="rect">
            <a:avLst/>
          </a:prstGeom>
          <a:solidFill>
            <a:srgbClr val="7A3B00"/>
          </a:solidFill>
          <a:ln w="12700">
            <a:solidFill>
              <a:srgbClr val="7A3B0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09360" y="1143000"/>
            <a:ext cx="252374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Planning</a:t>
            </a:r>
            <a:endParaRPr lang="en-US" sz="12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2" y="1161288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36792" y="1737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336792" y="19933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&amp; assignment hub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336792" y="24414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/ Notion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336792" y="26974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planning boards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336792" y="314553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for Education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336792" y="34015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resources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336792" y="384962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tools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336792" y="410565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Classroomscreen.com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  CONFLICT RESOLUTION &amp; BEHAVIOUR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1097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Tiered Response 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1600200"/>
            <a:ext cx="4389120" cy="777240"/>
          </a:xfrm>
          <a:prstGeom prst="rect">
            <a:avLst/>
          </a:prstGeom>
          <a:solidFill>
            <a:srgbClr val="2D6B4F"/>
          </a:solidFill>
          <a:ln w="12700">
            <a:solidFill>
              <a:srgbClr val="2D6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550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65506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Prevention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8424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expectations, engaging lessons, positive climate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606040"/>
            <a:ext cx="3474720" cy="777240"/>
          </a:xfrm>
          <a:prstGeom prst="rect">
            <a:avLst/>
          </a:prstGeom>
          <a:solidFill>
            <a:srgbClr val="C47A00"/>
          </a:solidFill>
          <a:ln w="12700">
            <a:solidFill>
              <a:srgbClr val="C4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609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609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9008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Check-ins, behaviour contracts, mentor check-ins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611880"/>
            <a:ext cx="2560320" cy="77724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6674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666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Intervention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959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plans, admin referral, parent conferences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09728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097280"/>
            <a:ext cx="374904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152144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Strategies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66360" y="1783080"/>
            <a:ext cx="54864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69164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— model the behaviour you expect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66360" y="2258568"/>
            <a:ext cx="54864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167128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private redirection, not public correction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2734056"/>
            <a:ext cx="54864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642616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student a face-saving choice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3209544"/>
            <a:ext cx="54864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118104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feelings before addressing actions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66360" y="3685032"/>
            <a:ext cx="54864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593592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proximity and non-verbal cues first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4160520"/>
            <a:ext cx="54864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406908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behaviour from the student's worth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66360" y="4636008"/>
            <a:ext cx="54864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4544568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privately after the lesson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  ASSESSMENT &amp; CONTINUOUS IMPROVEMENT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1920240" cy="2011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1430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7472" y="16642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210312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on student behaviour, engagement, and outcomes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011680"/>
            <a:ext cx="201168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097280"/>
            <a:ext cx="1920240" cy="2011680"/>
          </a:xfrm>
          <a:prstGeom prst="rect">
            <a:avLst/>
          </a:prstGeom>
          <a:solidFill>
            <a:srgbClr val="0D6B4F"/>
          </a:solidFill>
          <a:ln w="12700">
            <a:solidFill>
              <a:srgbClr val="0D6B4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11430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96312" y="16642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87752" y="210312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patterns, triggers, and areas needing adjustment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2011680"/>
            <a:ext cx="201168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1097280"/>
            <a:ext cx="1920240" cy="2011680"/>
          </a:xfrm>
          <a:prstGeom prst="rect">
            <a:avLst/>
          </a:prstGeom>
          <a:solidFill>
            <a:srgbClr val="7A3B00"/>
          </a:solidFill>
          <a:ln w="12700">
            <a:solidFill>
              <a:srgbClr val="7A3B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11430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45152" y="16642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36592" y="210312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targeted changes to routines, rules, or engagement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011680"/>
            <a:ext cx="201168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097280"/>
            <a:ext cx="1920240" cy="2011680"/>
          </a:xfrm>
          <a:prstGeom prst="rect">
            <a:avLst/>
          </a:prstGeom>
          <a:solidFill>
            <a:srgbClr val="5A0D6B"/>
          </a:solidFill>
          <a:ln w="12700">
            <a:solidFill>
              <a:srgbClr val="5A0D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93992" y="11430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93992" y="16642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85432" y="210312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impact of changes and share with colleagues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291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Tools &amp; Strategies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7472" y="3749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3749040"/>
            <a:ext cx="196596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8404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1605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weekly mood &amp; engagement check-ins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23744" y="3749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23744" y="3749040"/>
            <a:ext cx="196596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38404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15184" y="41605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reflections on lesson clarity and focus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749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0016" y="3749040"/>
            <a:ext cx="196596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38404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Observation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91456" y="41605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Collegial visits with structured feedback forms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76288" y="374904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76288" y="3749040"/>
            <a:ext cx="196596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38404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Journals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67728" y="41605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behaviour incidents and interventions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32004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97280"/>
            <a:ext cx="41148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97280"/>
            <a:ext cx="502920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533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832" y="123444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is about relationships first — rules are secondary to trust.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331720"/>
            <a:ext cx="41148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331720"/>
            <a:ext cx="502920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5877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1832" y="24688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routines reduce cognitive load and free students to focus on learning.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566160"/>
            <a:ext cx="41148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566160"/>
            <a:ext cx="502920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8221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41832" y="370332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the best behaviour management tool you have.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1097280"/>
            <a:ext cx="41148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1097280"/>
            <a:ext cx="502920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3533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30952" y="123444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should amplify your strategies, not replace teacher presence.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36592" y="2331720"/>
            <a:ext cx="41148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2331720"/>
            <a:ext cx="502920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5877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30952" y="246888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behaviour at the lowest effective level — escalate only when necessary.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36592" y="3566160"/>
            <a:ext cx="41148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566160"/>
            <a:ext cx="502920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8221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30952" y="370332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Reflect, measure, and iterate — great class managers are always learning.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4461</Words>
  <Application>WPS Docs</Application>
  <PresentationFormat>On-screen Show (16:9)</PresentationFormat>
  <Paragraphs>317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Management Techniques, Tools and Tactics</dc:title>
  <dc:creator>PptxGenJS</dc:creator>
  <dc:subject>PptxGenJS Presentation</dc:subject>
  <cp:lastModifiedBy>Olumide</cp:lastModifiedBy>
  <cp:revision>2</cp:revision>
  <dcterms:created xsi:type="dcterms:W3CDTF">2026-06-06T15:21:20Z</dcterms:created>
  <dcterms:modified xsi:type="dcterms:W3CDTF">2026-06-06T15:21:20Z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867E4DBA74023ED4F03A246AA48B1259_42</vt:lpwstr>
  </property>
  <property fmtid="{D5CDD505-2E9C-101B-9397-08002B2CF9AE}" pid="3" name="KSOProductBuildVer">
    <vt:lpwstr>1033-12.1.25897.25897</vt:lpwstr>
  </property>
</Properties>
</file>