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960120" cy="9601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5760"/>
            <a:ext cx="731520" cy="73152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640080" cy="6400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508760"/>
            <a:ext cx="685800" cy="68580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606040"/>
            <a:ext cx="731520" cy="73152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474720"/>
            <a:ext cx="640080" cy="64008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429000"/>
            <a:ext cx="685800" cy="685800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0160" y="4206240"/>
            <a:ext cx="640080" cy="640080"/>
          </a:xfrm>
          <a:prstGeom prst="rect">
            <a:avLst/>
          </a:prstGeom>
        </p:spPr>
      </p:pic>
      <p:sp>
        <p:nvSpPr>
          <p:cNvPr id="11" name="Shape 1"/>
          <p:cNvSpPr/>
          <p:nvPr/>
        </p:nvSpPr>
        <p:spPr>
          <a:xfrm>
            <a:off x="4206240" y="0"/>
            <a:ext cx="128016" cy="51435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Text 2"/>
          <p:cNvSpPr/>
          <p:nvPr/>
        </p:nvSpPr>
        <p:spPr>
          <a:xfrm>
            <a:off x="4572000" y="54864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the Job.</a:t>
            </a:r>
            <a:endParaRPr lang="en-US" sz="4200" dirty="0"/>
          </a:p>
        </p:txBody>
      </p:sp>
      <p:sp>
        <p:nvSpPr>
          <p:cNvPr id="13" name="Text 3"/>
          <p:cNvSpPr/>
          <p:nvPr/>
        </p:nvSpPr>
        <p:spPr>
          <a:xfrm>
            <a:off x="4572000" y="13258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 the Lesson.</a:t>
            </a:r>
            <a:endParaRPr lang="en-US" sz="3800" dirty="0"/>
          </a:p>
        </p:txBody>
      </p:sp>
      <p:sp>
        <p:nvSpPr>
          <p:cNvPr id="14" name="Text 4"/>
          <p:cNvSpPr/>
          <p:nvPr/>
        </p:nvSpPr>
        <p:spPr>
          <a:xfrm>
            <a:off x="4572000" y="228600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9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Prepare for Successful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9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Job Interviews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9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Demo Lessons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4572000" y="3657600"/>
            <a:ext cx="960120" cy="32004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6"/>
          <p:cNvSpPr/>
          <p:nvPr/>
        </p:nvSpPr>
        <p:spPr>
          <a:xfrm>
            <a:off x="4572000" y="36576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Research</a:t>
            </a:r>
            <a:endParaRPr lang="en-US" sz="950" dirty="0"/>
          </a:p>
        </p:txBody>
      </p:sp>
      <p:sp>
        <p:nvSpPr>
          <p:cNvPr id="17" name="Shape 7"/>
          <p:cNvSpPr/>
          <p:nvPr/>
        </p:nvSpPr>
        <p:spPr>
          <a:xfrm>
            <a:off x="5623560" y="3657600"/>
            <a:ext cx="960120" cy="320040"/>
          </a:xfrm>
          <a:prstGeom prst="rect">
            <a:avLst/>
          </a:prstGeom>
          <a:solidFill>
            <a:srgbClr val="4A4A6A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Text 8"/>
          <p:cNvSpPr/>
          <p:nvPr/>
        </p:nvSpPr>
        <p:spPr>
          <a:xfrm>
            <a:off x="5623560" y="36576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Preparation</a:t>
            </a:r>
            <a:endParaRPr lang="en-US" sz="950" dirty="0"/>
          </a:p>
        </p:txBody>
      </p:sp>
      <p:sp>
        <p:nvSpPr>
          <p:cNvPr id="19" name="Shape 9"/>
          <p:cNvSpPr/>
          <p:nvPr/>
        </p:nvSpPr>
        <p:spPr>
          <a:xfrm>
            <a:off x="6675120" y="3657600"/>
            <a:ext cx="960120" cy="32004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Text 10"/>
          <p:cNvSpPr/>
          <p:nvPr/>
        </p:nvSpPr>
        <p:spPr>
          <a:xfrm>
            <a:off x="6675120" y="36576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Delivery</a:t>
            </a:r>
            <a:endParaRPr lang="en-US" sz="950" dirty="0"/>
          </a:p>
        </p:txBody>
      </p:sp>
      <p:sp>
        <p:nvSpPr>
          <p:cNvPr id="21" name="Shape 11"/>
          <p:cNvSpPr/>
          <p:nvPr/>
        </p:nvSpPr>
        <p:spPr>
          <a:xfrm>
            <a:off x="7726680" y="3657600"/>
            <a:ext cx="960120" cy="32004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Text 12"/>
          <p:cNvSpPr/>
          <p:nvPr/>
        </p:nvSpPr>
        <p:spPr>
          <a:xfrm>
            <a:off x="7726680" y="36576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Reflection</a:t>
            </a:r>
            <a:endParaRPr lang="en-US" sz="950" dirty="0"/>
          </a:p>
        </p:txBody>
      </p:sp>
      <p:sp>
        <p:nvSpPr>
          <p:cNvPr id="23" name="Text 13"/>
          <p:cNvSpPr/>
          <p:nvPr/>
        </p:nvSpPr>
        <p:spPr>
          <a:xfrm>
            <a:off x="4572000" y="473659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4A5070"/>
                </a:solidFill>
              </a:rPr>
              <a:t>Professional Development Series  ·  Teaching &amp; Careers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960120"/>
          </a:xfrm>
          <a:prstGeom prst="rect">
            <a:avLst/>
          </a:prstGeom>
          <a:solidFill>
            <a:srgbClr val="2C2C3E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Teaching Interview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teaching interviews are two-part: a formal interview AND a demo lesson. You must excel at both.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1572768" cy="35661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72768" y="1371600"/>
            <a:ext cx="365760" cy="3657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7276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658368" cy="6583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" y="2249424"/>
            <a:ext cx="124358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2322576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School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97180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CEC"/>
                </a:solidFill>
              </a:rPr>
              <a:t>Know the school's ethos, results, and community before anything else.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075688" y="1353312"/>
            <a:ext cx="1572768" cy="3566160"/>
          </a:xfrm>
          <a:prstGeom prst="rect">
            <a:avLst/>
          </a:prstGeom>
          <a:solidFill>
            <a:srgbClr val="4A4A6A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36976" y="1371600"/>
            <a:ext cx="365760" cy="3657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23697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508760"/>
            <a:ext cx="658368" cy="6583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240280" y="2249424"/>
            <a:ext cx="124358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2075688" y="2322576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Prepare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167128" y="297180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CEC"/>
                </a:solidFill>
              </a:rPr>
              <a:t>Tailor your CV, letter, and teaching philosophy to this school.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739896" y="1353312"/>
            <a:ext cx="1572768" cy="356616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01184" y="1371600"/>
            <a:ext cx="365760" cy="3657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4901184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96" y="1508760"/>
            <a:ext cx="658368" cy="6583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904488" y="2249424"/>
            <a:ext cx="124358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3739896" y="2322576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Demo Lesson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3831336" y="297180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CEC"/>
                </a:solidFill>
              </a:rPr>
              <a:t>Design a tight, impressive, student-centred lesson to show your best.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04104" y="1353312"/>
            <a:ext cx="1572768" cy="356616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65392" y="1371600"/>
            <a:ext cx="365760" cy="3657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656539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1508760"/>
            <a:ext cx="658368" cy="65836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568696" y="2249424"/>
            <a:ext cx="124358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5404104" y="2322576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Ace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Interview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495544" y="297180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CEC"/>
                </a:solidFill>
              </a:rPr>
              <a:t>Prepare strong answers, great questions, and confident body language.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7068312" y="1353312"/>
            <a:ext cx="1572768" cy="3566160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229600" y="1371600"/>
            <a:ext cx="365760" cy="36576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82296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512" y="1508760"/>
            <a:ext cx="658368" cy="658368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7232904" y="2249424"/>
            <a:ext cx="1243584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7068312" y="2322576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Reflect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Follow Up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7159752" y="2971800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CEC"/>
                </a:solidFill>
              </a:rPr>
              <a:t>Send a thank-you, reflect on feedback, and keep building your practice.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2C2C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260604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" y="33375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4C8"/>
                </a:solidFill>
              </a:rPr>
              <a:t>Interviewers can spot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8FA4C8"/>
                </a:solidFill>
              </a:rPr>
              <a:t>an unprepared candidate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8FA4C8"/>
                </a:solidFill>
              </a:rPr>
              <a:t>immediately. Research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8FA4C8"/>
                </a:solidFill>
              </a:rPr>
              <a:t>is your first impression.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337560" y="320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Research the School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33756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080"/>
                </a:solidFill>
              </a:rPr>
              <a:t>What to investigate before the interview day: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170432"/>
            <a:ext cx="5440680" cy="685800"/>
          </a:xfrm>
          <a:prstGeom prst="rect">
            <a:avLst/>
          </a:prstGeom>
          <a:solidFill>
            <a:srgbClr val="EAEDF5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7560" y="1170432"/>
            <a:ext cx="54864" cy="6858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2344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Vision, Mission &amp; Values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77640" y="1508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</a:rPr>
              <a:t>Read the school's website, prospectus, and vision statement. Reference these in your interview.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37560" y="1938528"/>
            <a:ext cx="5440680" cy="685800"/>
          </a:xfrm>
          <a:prstGeom prst="rect">
            <a:avLst/>
          </a:prstGeom>
          <a:solidFill>
            <a:srgbClr val="EAEDF5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37560" y="1938528"/>
            <a:ext cx="54864" cy="685800"/>
          </a:xfrm>
          <a:prstGeom prst="rect">
            <a:avLst/>
          </a:prstGeom>
          <a:solidFill>
            <a:srgbClr val="4A4A6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2048256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77640" y="20025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6A"/>
                </a:solidFill>
              </a:rPr>
              <a:t>Performance &amp; Inspection Reports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977640" y="22768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</a:rPr>
              <a:t>Review recent inspection reports (Ofsted/equivalent) and published exam results.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337560" y="2706624"/>
            <a:ext cx="5440680" cy="685800"/>
          </a:xfrm>
          <a:prstGeom prst="rect">
            <a:avLst/>
          </a:prstGeom>
          <a:solidFill>
            <a:srgbClr val="EAEDF5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337560" y="2706624"/>
            <a:ext cx="54864" cy="6858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81635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77640" y="27706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</a:rPr>
              <a:t>Student Demographics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3977640" y="30449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</a:rPr>
              <a:t>Understand the school's catchment, pupil diversity, and any SEN or EAL considerations.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337560" y="3474720"/>
            <a:ext cx="5440680" cy="685800"/>
          </a:xfrm>
          <a:prstGeom prst="rect">
            <a:avLst/>
          </a:prstGeom>
          <a:solidFill>
            <a:srgbClr val="EAEDF5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37560" y="3474720"/>
            <a:ext cx="54864" cy="68580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3584448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77640" y="35387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School Culture &amp; Extra-Curricular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977640" y="38130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</a:rPr>
              <a:t>Look at clubs, events, community links — show genuine interest in the whole school.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337560" y="4242816"/>
            <a:ext cx="5440680" cy="685800"/>
          </a:xfrm>
          <a:prstGeom prst="rect">
            <a:avLst/>
          </a:prstGeom>
          <a:solidFill>
            <a:srgbClr val="EAEDF5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37560" y="4242816"/>
            <a:ext cx="54864" cy="68580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432" y="4352544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977640" y="43068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</a:rPr>
              <a:t>The Job Description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3977640" y="45811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</a:rPr>
              <a:t>Map every bullet point to your experience. Be ready to give examples for each requirement.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749808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Craft a Standout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3977640" cy="457200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070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CV / Résumé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3977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84708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819656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Lead with a sharp, tailored personal statement (3–4 lines max) matching this school's values.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77440"/>
            <a:ext cx="3977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24688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44144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List qualifications, certifications, and subject specialisms clearly at the top.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999232"/>
            <a:ext cx="3977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309067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306324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Use action verbs: 'Designed,' 'Implemented,' 'Raised,' 'Mentored,' 'Led.'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621024"/>
            <a:ext cx="3977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" y="3712464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685032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Include measurable impact: 'Improved pass rates by 18%,' 'Led a team of 8.'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242816"/>
            <a:ext cx="3977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4334256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306824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Keep to 2 pages. Proofread three times — spelling errors end applications immediately.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1207008"/>
            <a:ext cx="4114800" cy="457200"/>
          </a:xfrm>
          <a:prstGeom prst="rect">
            <a:avLst/>
          </a:prstGeom>
          <a:solidFill>
            <a:srgbClr val="4A4A6A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12070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Cover Letter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17720" y="1755648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1755648"/>
            <a:ext cx="54864" cy="54864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847088"/>
            <a:ext cx="365760" cy="36576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212080" y="181051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Opening Hook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212080" y="205740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</a:rPr>
              <a:t>Start with why THIS school, not 'I am writing to apply for…'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617720" y="23774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17720" y="2377440"/>
            <a:ext cx="54864" cy="54864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468880"/>
            <a:ext cx="36576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212080" y="243230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7E22"/>
                </a:solidFill>
              </a:rPr>
              <a:t>Your Teaching Philosophy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212080" y="267919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</a:rPr>
              <a:t>In 2–3 sentences: what do you believe great teaching looks like?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617720" y="2999232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617720" y="2999232"/>
            <a:ext cx="54864" cy="5486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090672"/>
            <a:ext cx="365760" cy="36576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212080" y="30540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</a:rPr>
              <a:t>Evidence of Impact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5212080" y="330098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</a:rPr>
              <a:t>One strong story: a student you transformed, a result you achieved.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4617720" y="3621024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4617720" y="3621024"/>
            <a:ext cx="54864" cy="548640"/>
          </a:xfrm>
          <a:prstGeom prst="rect">
            <a:avLst/>
          </a:prstGeom>
          <a:solidFill>
            <a:srgbClr val="4A4A6A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712464"/>
            <a:ext cx="365760" cy="36576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212080" y="36758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4A6A"/>
                </a:solidFill>
              </a:rPr>
              <a:t>Fit &amp; Contribution</a:t>
            </a:r>
            <a:endParaRPr lang="en-US" sz="1150" dirty="0"/>
          </a:p>
        </p:txBody>
      </p:sp>
      <p:sp>
        <p:nvSpPr>
          <p:cNvPr id="47" name="Text 41"/>
          <p:cNvSpPr/>
          <p:nvPr/>
        </p:nvSpPr>
        <p:spPr>
          <a:xfrm>
            <a:off x="5212080" y="392277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</a:rPr>
              <a:t>Specifically name school values or initiatives you'd contribute to.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4617720" y="4242816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4617720" y="4242816"/>
            <a:ext cx="54864" cy="54864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334256"/>
            <a:ext cx="365760" cy="36576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212080" y="42976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44AD"/>
                </a:solidFill>
              </a:rPr>
              <a:t>Confident Close</a:t>
            </a:r>
            <a:endParaRPr lang="en-US" sz="1150" dirty="0"/>
          </a:p>
        </p:txBody>
      </p:sp>
      <p:sp>
        <p:nvSpPr>
          <p:cNvPr id="52" name="Text 45"/>
          <p:cNvSpPr/>
          <p:nvPr/>
        </p:nvSpPr>
        <p:spPr>
          <a:xfrm>
            <a:off x="5212080" y="454456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080"/>
                </a:solidFill>
              </a:rPr>
              <a:t>Express enthusiasm, invite interview, thank them for their time.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749808"/>
          </a:xfrm>
          <a:prstGeom prst="rect">
            <a:avLst/>
          </a:prstGeom>
          <a:solidFill>
            <a:srgbClr val="2C2C3E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Plan an Unforgettable Demo Lesson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1572768" cy="33832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32588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048256"/>
            <a:ext cx="1298448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212140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Hook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(0–5 min)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138988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CEC"/>
                </a:solidFill>
              </a:rPr>
              <a:t>Start with a question, image, or challenge. Grab attention in 60 seconds.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075688" y="1188720"/>
            <a:ext cx="1572768" cy="3383280"/>
          </a:xfrm>
          <a:prstGeom prst="rect">
            <a:avLst/>
          </a:prstGeom>
          <a:solidFill>
            <a:srgbClr val="4A4A6A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325880"/>
            <a:ext cx="640080" cy="6400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12848" y="2048256"/>
            <a:ext cx="1298448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075688" y="212140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Objectives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(1 min)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167128" y="2788920"/>
            <a:ext cx="138988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CEC"/>
                </a:solidFill>
              </a:rPr>
              <a:t>Share SMART learning outcomes. Students know where they're going.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739896" y="1188720"/>
            <a:ext cx="1572768" cy="338328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325880"/>
            <a:ext cx="640080" cy="6400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877056" y="2048256"/>
            <a:ext cx="1298448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3739896" y="212140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Teach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(10–12 min)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831336" y="2788920"/>
            <a:ext cx="138988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CEC"/>
                </a:solidFill>
              </a:rPr>
              <a:t>Clear, confident direct instruction with checks for understanding.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04104" y="1188720"/>
            <a:ext cx="1572768" cy="338328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325880"/>
            <a:ext cx="640080" cy="64008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541264" y="2048256"/>
            <a:ext cx="1298448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5404104" y="212140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Practise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(8–10 min)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95544" y="2788920"/>
            <a:ext cx="138988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CEC"/>
                </a:solidFill>
              </a:rPr>
              <a:t>Paired, group or independent activity. Circulate and give feedback.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068312" y="1188720"/>
            <a:ext cx="1572768" cy="3383280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1325880"/>
            <a:ext cx="640080" cy="64008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7205472" y="2048256"/>
            <a:ext cx="1298448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7068312" y="2121408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Plenary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(3–5 min)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159752" y="2788920"/>
            <a:ext cx="138988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CEC"/>
                </a:solidFill>
              </a:rPr>
              <a:t>Exit ticket, cold-call Q&amp;A, or show-me boards to evidence learning.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solidFill>
            <a:srgbClr val="EAEDF5"/>
          </a:solidFill>
          <a:ln/>
        </p:spPr>
      </p:sp>
      <p:sp>
        <p:nvSpPr>
          <p:cNvPr id="30" name="Text 23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C2C3E"/>
                </a:solidFill>
              </a:rPr>
              <a:t>💡  Aim for 20–25 minutes. Leave buffer time. Never run over. Observers notice pacing above almost everything else.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749808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Observers Look For in Your Demo Lesson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07008"/>
            <a:ext cx="54864" cy="1143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Shape 4"/>
          <p:cNvSpPr/>
          <p:nvPr/>
        </p:nvSpPr>
        <p:spPr>
          <a:xfrm>
            <a:off x="576072" y="1371600"/>
            <a:ext cx="621792" cy="62179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46304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2984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Clear Learning Objectives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25880" y="164592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</a:rPr>
              <a:t>Are outcomes specific, measurable, and shared with students from the start?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207008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207008"/>
            <a:ext cx="54864" cy="1143000"/>
          </a:xfrm>
          <a:prstGeom prst="rect">
            <a:avLst/>
          </a:prstGeom>
          <a:solidFill>
            <a:srgbClr val="4A4A6A"/>
          </a:solidFill>
          <a:ln/>
        </p:spPr>
      </p:sp>
      <p:sp>
        <p:nvSpPr>
          <p:cNvPr id="12" name="Shape 9"/>
          <p:cNvSpPr/>
          <p:nvPr/>
        </p:nvSpPr>
        <p:spPr>
          <a:xfrm>
            <a:off x="4965192" y="1371600"/>
            <a:ext cx="621792" cy="621792"/>
          </a:xfrm>
          <a:prstGeom prst="ellipse">
            <a:avLst/>
          </a:prstGeom>
          <a:solidFill>
            <a:srgbClr val="4A4A6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46304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15000" y="12984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4A6A"/>
                </a:solidFill>
              </a:rPr>
              <a:t>Quality of Questioning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715000" y="164592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</a:rPr>
              <a:t>Do you use open, probing, Socratic questions? Do you wait for answers?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1480" y="246888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468880"/>
            <a:ext cx="54864" cy="1143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Shape 14"/>
          <p:cNvSpPr/>
          <p:nvPr/>
        </p:nvSpPr>
        <p:spPr>
          <a:xfrm>
            <a:off x="576072" y="2633472"/>
            <a:ext cx="621792" cy="621792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724912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560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7E22"/>
                </a:solidFill>
              </a:rPr>
              <a:t>Student Engagement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325880" y="290779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</a:rPr>
              <a:t>Are students actively involved throughout — not just listening passively?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800600" y="2468880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00600" y="2468880"/>
            <a:ext cx="54864" cy="1143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Shape 19"/>
          <p:cNvSpPr/>
          <p:nvPr/>
        </p:nvSpPr>
        <p:spPr>
          <a:xfrm>
            <a:off x="4965192" y="2633472"/>
            <a:ext cx="621792" cy="621792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2724912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15000" y="2560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AE60"/>
                </a:solidFill>
              </a:rPr>
              <a:t>Subject Knowledge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715000" y="2907792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</a:rPr>
              <a:t>Is your command of the subject clear, accurate, and communicated confidently?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11480" y="373075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11480" y="3730752"/>
            <a:ext cx="54864" cy="11430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0" name="Shape 24"/>
          <p:cNvSpPr/>
          <p:nvPr/>
        </p:nvSpPr>
        <p:spPr>
          <a:xfrm>
            <a:off x="576072" y="3895344"/>
            <a:ext cx="621792" cy="621792"/>
          </a:xfrm>
          <a:prstGeom prst="ellipse">
            <a:avLst/>
          </a:prstGeom>
          <a:solidFill>
            <a:srgbClr val="8E44A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986784"/>
            <a:ext cx="438912" cy="4389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3822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44AD"/>
                </a:solidFill>
              </a:rPr>
              <a:t>Relationships &amp; Rapport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1325880" y="4169664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</a:rPr>
              <a:t>Can you build warmth and trust with unfamiliar students quickly?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800600" y="3730752"/>
            <a:ext cx="41605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800600" y="3730752"/>
            <a:ext cx="54864" cy="1143000"/>
          </a:xfrm>
          <a:prstGeom prst="rect">
            <a:avLst/>
          </a:prstGeom>
          <a:solidFill>
            <a:srgbClr val="2E7D8F"/>
          </a:solidFill>
          <a:ln/>
        </p:spPr>
      </p:sp>
      <p:sp>
        <p:nvSpPr>
          <p:cNvPr id="36" name="Shape 29"/>
          <p:cNvSpPr/>
          <p:nvPr/>
        </p:nvSpPr>
        <p:spPr>
          <a:xfrm>
            <a:off x="4965192" y="3895344"/>
            <a:ext cx="621792" cy="621792"/>
          </a:xfrm>
          <a:prstGeom prst="ellipse">
            <a:avLst/>
          </a:prstGeom>
          <a:solidFill>
            <a:srgbClr val="2E7D8F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986784"/>
            <a:ext cx="438912" cy="43891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715000" y="38221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8F"/>
                </a:solidFill>
              </a:rPr>
              <a:t>Assessment for Learning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5715000" y="4169664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0"/>
                </a:solidFill>
              </a:rPr>
              <a:t>How do you check understanding during the lesson and adapt accordingly?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411480" y="4736592"/>
            <a:ext cx="8321040" cy="292608"/>
          </a:xfrm>
          <a:prstGeom prst="rect">
            <a:avLst/>
          </a:prstGeom>
          <a:solidFill>
            <a:srgbClr val="2C2C3E"/>
          </a:solidFill>
          <a:ln/>
        </p:spPr>
      </p:sp>
      <p:sp>
        <p:nvSpPr>
          <p:cNvPr id="41" name="Text 33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✅  Differentiation and inclusion: show that you can adapt tasks for different learners — observers always notice this.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A6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27889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 the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" y="3794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C4DE"/>
                </a:solidFill>
              </a:rPr>
              <a:t>Use the STAR method: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B0C4DE"/>
                </a:solidFill>
              </a:rPr>
              <a:t>Situation · 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B0C4DE"/>
                </a:solidFill>
              </a:rPr>
              <a:t>Action · Result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429000" y="3200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Questions &amp; How to Tackle Them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429000" y="868680"/>
            <a:ext cx="5394960" cy="749808"/>
          </a:xfrm>
          <a:prstGeom prst="rect">
            <a:avLst/>
          </a:prstGeom>
          <a:solidFill>
            <a:srgbClr val="EAEDF5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29000" y="868680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3547872" y="91440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Q: Why do you want to teach here?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547872" y="121615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→  Reference specific school values, programmes, or community links. Never give a generic answer.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9000" y="1691640"/>
            <a:ext cx="5394960" cy="749808"/>
          </a:xfrm>
          <a:prstGeom prst="rect">
            <a:avLst/>
          </a:prstGeom>
          <a:solidFill>
            <a:srgbClr val="EAEDF5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691640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3547872" y="173736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Q: Describe your teaching philosophy.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3547872" y="203911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→  Be concise: what you believe, how it looks in practice, and an example of impact.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29000" y="2514600"/>
            <a:ext cx="5394960" cy="749808"/>
          </a:xfrm>
          <a:prstGeom prst="rect">
            <a:avLst/>
          </a:prstGeom>
          <a:solidFill>
            <a:srgbClr val="EAEDF5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29000" y="2514600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3547872" y="256032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Q: How do you manage challenging behaviour?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547872" y="286207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→  Use STAR: describe a real situation, your approach, and the positive outcome. Focus on relationships.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429000" y="3337560"/>
            <a:ext cx="5394960" cy="749808"/>
          </a:xfrm>
          <a:prstGeom prst="rect">
            <a:avLst/>
          </a:prstGeom>
          <a:solidFill>
            <a:srgbClr val="EAEDF5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29000" y="3337560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8"/>
          <p:cNvSpPr/>
          <p:nvPr/>
        </p:nvSpPr>
        <p:spPr>
          <a:xfrm>
            <a:off x="3547872" y="338328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Q: How do you support students with SEND?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547872" y="368503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→  Show knowledge of differentiation, EHCP awareness, and collaboration with support staff.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429000" y="4160520"/>
            <a:ext cx="5394960" cy="749808"/>
          </a:xfrm>
          <a:prstGeom prst="rect">
            <a:avLst/>
          </a:prstGeom>
          <a:solidFill>
            <a:srgbClr val="EAEDF5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29000" y="4160520"/>
            <a:ext cx="54864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2"/>
          <p:cNvSpPr/>
          <p:nvPr/>
        </p:nvSpPr>
        <p:spPr>
          <a:xfrm>
            <a:off x="3547872" y="420624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Q: What does outstanding progress look like?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3547872" y="450799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E2E"/>
                </a:solidFill>
              </a:rPr>
              <a:t>→  Talk about formative assessment, data tracking, and adapting your teaching when students aren't progressing.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749808"/>
          </a:xfrm>
          <a:prstGeom prst="rect">
            <a:avLst/>
          </a:prstGeom>
          <a:solidFill>
            <a:srgbClr val="2C2C3E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Questions to Ask the Interview Panel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0392B"/>
                </a:solidFill>
              </a:rPr>
              <a:t>Asking great questions signals curiosity, professionalism, and genuine interest — never say 'I have no questions.'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832104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08760"/>
            <a:ext cx="54864" cy="603504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9344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5544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About Teaching &amp; Learning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90672" y="1554480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E2E"/>
                </a:solidFill>
              </a:rPr>
              <a:t>"How does the school support teachers in delivering high-quality lessons and continued professional development?"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" y="2185416"/>
            <a:ext cx="832104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2185416"/>
            <a:ext cx="54864" cy="603504"/>
          </a:xfrm>
          <a:prstGeom prst="rect">
            <a:avLst/>
          </a:prstGeom>
          <a:solidFill>
            <a:srgbClr val="4A4A6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" y="22311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6A"/>
                </a:solidFill>
              </a:rPr>
              <a:t>About the Department/Team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090672" y="2231136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E2E"/>
                </a:solidFill>
              </a:rPr>
              <a:t>"How would you describe the culture and collaboration within the department I'd be joining?"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" y="2862072"/>
            <a:ext cx="832104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2862072"/>
            <a:ext cx="54864" cy="60350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62656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78992" y="2907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About Leadership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090672" y="2907792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E2E"/>
                </a:solidFill>
              </a:rPr>
              <a:t>"What does the school leadership prioritise in terms of staff wellbeing and support?"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11480" y="3538728"/>
            <a:ext cx="832104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11480" y="3538728"/>
            <a:ext cx="54864" cy="60350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3931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78992" y="35844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About the Students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090672" y="3584448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E2E"/>
                </a:solidFill>
              </a:rPr>
              <a:t>"What are the biggest challenges facing students here, and how does the school address them?"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11480" y="4215384"/>
            <a:ext cx="8321040" cy="60350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11480" y="4215384"/>
            <a:ext cx="54864" cy="603504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15968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78992" y="426110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44AD"/>
                </a:solidFill>
              </a:rPr>
              <a:t>About School Vision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090672" y="4261104"/>
            <a:ext cx="5440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1E2E"/>
                </a:solidFill>
              </a:rPr>
              <a:t>"Where do you see the school in 3–5 years, and how would this role contribute to that vision?"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8321040" cy="749808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27000" dist="38100" dir="8100000">
              <a:srgbClr val="000000">
                <a:alpha val="11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Presentation, Confidence &amp; Professionalism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397764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704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✔  DO These Things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39776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792224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7739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Arrive 15–20 minutes early to settle and observe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167128"/>
            <a:ext cx="3977640" cy="393192"/>
          </a:xfrm>
          <a:prstGeom prst="rect">
            <a:avLst/>
          </a:prstGeom>
          <a:solidFill>
            <a:srgbClr val="EAEDF5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" y="2240280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22219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Dress one level above what you'd normally teach 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15184"/>
            <a:ext cx="39776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" y="2688336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67004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Bring printed copies of your lesson plan for observers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3977640" cy="393192"/>
          </a:xfrm>
          <a:prstGeom prst="rect">
            <a:avLst/>
          </a:prstGeom>
          <a:solidFill>
            <a:srgbClr val="EAED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93776" y="3136392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311810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Make eye contact with students and panel members alike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511296"/>
            <a:ext cx="39776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" y="3584448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356616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Speak clearly and at a measured pace — nerves speed you up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959352"/>
            <a:ext cx="3977640" cy="393192"/>
          </a:xfrm>
          <a:prstGeom prst="rect">
            <a:avLst/>
          </a:prstGeom>
          <a:solidFill>
            <a:srgbClr val="EAEDF5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" y="4032504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" y="40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401421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Smile and project warmth — students respond to energy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407408"/>
            <a:ext cx="397764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" y="4480560"/>
            <a:ext cx="256032" cy="25603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" y="446227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Have a backup plan if tech fails (always bring printed resources)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1170432"/>
            <a:ext cx="41148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11704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✖  AVOID These Mistakes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17720" y="1719072"/>
            <a:ext cx="4114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700016" y="1792224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4700016" y="1792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47488" y="1773936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Badmouthing your previous school or colleagues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2167128"/>
            <a:ext cx="4114800" cy="393192"/>
          </a:xfrm>
          <a:prstGeom prst="rect">
            <a:avLst/>
          </a:prstGeom>
          <a:solidFill>
            <a:srgbClr val="EAEDF5"/>
          </a:solidFill>
          <a:ln/>
        </p:spPr>
      </p:sp>
      <p:sp>
        <p:nvSpPr>
          <p:cNvPr id="41" name="Shape 39"/>
          <p:cNvSpPr/>
          <p:nvPr/>
        </p:nvSpPr>
        <p:spPr>
          <a:xfrm>
            <a:off x="4700016" y="2240280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4700016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47488" y="2221992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Overly complicated lessons that run out of time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17720" y="2615184"/>
            <a:ext cx="4114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4700016" y="2688336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4700016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47488" y="2670048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Reading off slides or notes during your demo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17720" y="3063240"/>
            <a:ext cx="4114800" cy="393192"/>
          </a:xfrm>
          <a:prstGeom prst="rect">
            <a:avLst/>
          </a:prstGeom>
          <a:solidFill>
            <a:srgbClr val="EAEDF5"/>
          </a:solidFill>
          <a:ln/>
        </p:spPr>
      </p:sp>
      <p:sp>
        <p:nvSpPr>
          <p:cNvPr id="49" name="Shape 47"/>
          <p:cNvSpPr/>
          <p:nvPr/>
        </p:nvSpPr>
        <p:spPr>
          <a:xfrm>
            <a:off x="4700016" y="3136392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0" name="Text 48"/>
          <p:cNvSpPr/>
          <p:nvPr/>
        </p:nvSpPr>
        <p:spPr>
          <a:xfrm>
            <a:off x="4700016" y="3136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47488" y="3118104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Saying 'I have no questions' when invited to ask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17720" y="3511296"/>
            <a:ext cx="4114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4700016" y="3584448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4" name="Text 52"/>
          <p:cNvSpPr/>
          <p:nvPr/>
        </p:nvSpPr>
        <p:spPr>
          <a:xfrm>
            <a:off x="4700016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047488" y="3566160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Being vague — specifics always beat generalities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17720" y="3959352"/>
            <a:ext cx="4114800" cy="393192"/>
          </a:xfrm>
          <a:prstGeom prst="rect">
            <a:avLst/>
          </a:prstGeom>
          <a:solidFill>
            <a:srgbClr val="EAEDF5"/>
          </a:solidFill>
          <a:ln/>
        </p:spPr>
      </p:sp>
      <p:sp>
        <p:nvSpPr>
          <p:cNvPr id="57" name="Shape 55"/>
          <p:cNvSpPr/>
          <p:nvPr/>
        </p:nvSpPr>
        <p:spPr>
          <a:xfrm>
            <a:off x="4700016" y="4032504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8" name="Text 56"/>
          <p:cNvSpPr/>
          <p:nvPr/>
        </p:nvSpPr>
        <p:spPr>
          <a:xfrm>
            <a:off x="4700016" y="4032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047488" y="4014216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Ignoring struggling students during the demo lesson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17720" y="4407408"/>
            <a:ext cx="41148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4700016" y="4480560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2" name="Text 60"/>
          <p:cNvSpPr/>
          <p:nvPr/>
        </p:nvSpPr>
        <p:spPr>
          <a:xfrm>
            <a:off x="4700016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✗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47488" y="4462272"/>
            <a:ext cx="3593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</a:rPr>
              <a:t>Forgetting to differentiate for different ability levels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2C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5815584" y="0"/>
            <a:ext cx="137160" cy="51435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74320"/>
            <a:ext cx="822960" cy="8229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02920"/>
            <a:ext cx="685800" cy="685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640080" cy="64008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600200"/>
            <a:ext cx="640080" cy="64008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606040"/>
            <a:ext cx="777240" cy="777240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611880"/>
            <a:ext cx="640080" cy="640080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3566160"/>
            <a:ext cx="594360" cy="594360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457200" y="41148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Interview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Plan</a:t>
            </a:r>
            <a:endParaRPr lang="en-US" sz="3800" dirty="0"/>
          </a:p>
        </p:txBody>
      </p:sp>
      <p:sp>
        <p:nvSpPr>
          <p:cNvPr id="12" name="Text 3"/>
          <p:cNvSpPr/>
          <p:nvPr/>
        </p:nvSpPr>
        <p:spPr>
          <a:xfrm>
            <a:off x="457200" y="16916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67E22"/>
                </a:solidFill>
              </a:rPr>
              <a:t>Start before the deadline. Prepare like a professional.</a:t>
            </a:r>
            <a:endParaRPr lang="en-US" sz="1350" dirty="0"/>
          </a:p>
        </p:txBody>
      </p:sp>
      <p:sp>
        <p:nvSpPr>
          <p:cNvPr id="13" name="Shape 4"/>
          <p:cNvSpPr/>
          <p:nvPr/>
        </p:nvSpPr>
        <p:spPr>
          <a:xfrm>
            <a:off x="457200" y="2176272"/>
            <a:ext cx="5230368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5"/>
          <p:cNvSpPr/>
          <p:nvPr/>
        </p:nvSpPr>
        <p:spPr>
          <a:xfrm>
            <a:off x="512064" y="224942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6"/>
          <p:cNvSpPr/>
          <p:nvPr/>
        </p:nvSpPr>
        <p:spPr>
          <a:xfrm>
            <a:off x="512064" y="2249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7"/>
          <p:cNvSpPr/>
          <p:nvPr/>
        </p:nvSpPr>
        <p:spPr>
          <a:xfrm>
            <a:off x="969264" y="22128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 the school deeply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3822192" y="221284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Website, inspection reports, social media, news.</a:t>
            </a:r>
            <a:endParaRPr lang="en-US" sz="1050" dirty="0"/>
          </a:p>
        </p:txBody>
      </p:sp>
      <p:sp>
        <p:nvSpPr>
          <p:cNvPr id="18" name="Shape 9"/>
          <p:cNvSpPr/>
          <p:nvPr/>
        </p:nvSpPr>
        <p:spPr>
          <a:xfrm>
            <a:off x="457200" y="2743200"/>
            <a:ext cx="5230368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0"/>
          <p:cNvSpPr/>
          <p:nvPr/>
        </p:nvSpPr>
        <p:spPr>
          <a:xfrm>
            <a:off x="512064" y="281635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1"/>
          <p:cNvSpPr/>
          <p:nvPr/>
        </p:nvSpPr>
        <p:spPr>
          <a:xfrm>
            <a:off x="512064" y="2816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2"/>
          <p:cNvSpPr/>
          <p:nvPr/>
        </p:nvSpPr>
        <p:spPr>
          <a:xfrm>
            <a:off x="969264" y="27797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Tailor every application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3822192" y="277977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No generic letters — mirror their language and values.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457200" y="3310128"/>
            <a:ext cx="5230368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15"/>
          <p:cNvSpPr/>
          <p:nvPr/>
        </p:nvSpPr>
        <p:spPr>
          <a:xfrm>
            <a:off x="512064" y="338328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16"/>
          <p:cNvSpPr/>
          <p:nvPr/>
        </p:nvSpPr>
        <p:spPr>
          <a:xfrm>
            <a:off x="512064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969264" y="33467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Design your best lesson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3822192" y="3346704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Simple, engaging, differentiated — practise it aloud.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457200" y="3877056"/>
            <a:ext cx="5230368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512064" y="3950208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1"/>
          <p:cNvSpPr/>
          <p:nvPr/>
        </p:nvSpPr>
        <p:spPr>
          <a:xfrm>
            <a:off x="512064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969264" y="39136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Prepare &amp; practise your answers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3822192" y="3913632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Record yourself. Ask a colleague to mock-interview you.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457200" y="4443984"/>
            <a:ext cx="5230368" cy="50292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512064" y="4517136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5" name="Text 26"/>
          <p:cNvSpPr/>
          <p:nvPr/>
        </p:nvSpPr>
        <p:spPr>
          <a:xfrm>
            <a:off x="512064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969264" y="44805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Reflect regardless of outcome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3822192" y="44805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</a:rPr>
              <a:t>Every interview makes you better. Ask for feedback.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45720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Good luck — you've got this! 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Job Interviews &amp; Demo Lessons</dc:title>
  <dc:subject>PptxGenJS Presentation</dc:subject>
  <dc:creator>PptxGenJS</dc:creator>
  <cp:lastModifiedBy>PptxGenJS</cp:lastModifiedBy>
  <cp:revision>1</cp:revision>
  <dcterms:created xsi:type="dcterms:W3CDTF">2026-06-07T18:11:51Z</dcterms:created>
  <dcterms:modified xsi:type="dcterms:W3CDTF">2026-06-07T18:11:51Z</dcterms:modified>
</cp:coreProperties>
</file>