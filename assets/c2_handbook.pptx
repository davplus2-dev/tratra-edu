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01785" y="280035"/>
            <a:ext cx="2788920" cy="2765425"/>
          </a:xfrm>
          <a:prstGeom prst="ellipse">
            <a:avLst/>
          </a:prstGeom>
          <a:solidFill>
            <a:schemeClr val="accent2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460" y="1433195"/>
            <a:ext cx="8160385" cy="209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Navigating Pedagogical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290" y="4114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009696"/>
                </a:solidFill>
                <a:latin typeface="Segoe UI"/>
              </a:defRPr>
            </a:pPr>
            <a:r>
              <a:t>Student-Centered vs. Teacher-Centered Pedagogy</a:t>
            </a:r>
          </a:p>
          <a:p>
            <a:pPr>
              <a:spcAft>
                <a:spcPts val="1000"/>
              </a:spcAft>
              <a:defRPr sz="2800">
                <a:solidFill>
                  <a:srgbClr val="009696"/>
                </a:solidFill>
                <a:latin typeface="Segoe UI"/>
              </a:defRPr>
            </a:pPr>
            <a:r>
              <a:t>A Comprehensive Guide for Educators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6325" y="1635125"/>
            <a:ext cx="9755505" cy="4434205"/>
          </a:xfrm>
        </p:spPr>
        <p:txBody>
          <a:bodyPr>
            <a:normAutofit fontScale="90000" lnSpcReduction="10000"/>
          </a:bodyPr>
          <a:lstStyle/>
          <a:p/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Definition: The method, practice, and philosophy of teaching.</a:t>
            </a:r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Encompasses teaching styles, feedback strategies, and assessment methods.</a:t>
            </a:r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Pedagogy exists on a continuous spectrum, not always an either/or choice.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Two main paradigms: Teacher-Centered and Student-Centered.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Objective: Understand both to make informed instructional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What is Pedagogy?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6835" y="1863090"/>
            <a:ext cx="9215120" cy="3802380"/>
          </a:xfrm>
        </p:spPr>
        <p:txBody>
          <a:bodyPr>
            <a:normAutofit fontScale="80000"/>
          </a:bodyPr>
          <a:lstStyle/>
          <a:p/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Role of Teacher: Primary source of knowledge, the 'Sage on the Stage'.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Role of Student: Passive receiver of information.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Instruction Style: Direct instruction, lectures, and clear modeling.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Classroom Dynamics: Orderly, quiet, and highly structured.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Assessment: Objective testing, standardized exams.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Teacher-Centered Pedagogy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215" y="1644650"/>
            <a:ext cx="9450705" cy="4524375"/>
          </a:xfrm>
        </p:spPr>
        <p:txBody>
          <a:bodyPr>
            <a:noAutofit/>
          </a:bodyPr>
          <a:lstStyle/>
          <a:p>
            <a:endParaRPr sz="1500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sz="1500" b="1"/>
              <a:t>Advantages:</a:t>
            </a:r>
            <a:endParaRPr sz="15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500" b="1"/>
              <a:t>Efficient for covering large amounts of content quickly.</a:t>
            </a:r>
            <a:endParaRPr sz="15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500" b="1"/>
              <a:t>Clear expectations and orderly classroom management.</a:t>
            </a:r>
            <a:endParaRPr sz="15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500" b="1"/>
              <a:t>Effective for introducing foundational concepts and facts.</a:t>
            </a:r>
            <a:endParaRPr sz="1500" b="1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sz="1500" b="1"/>
              <a:t>Disadvantages:</a:t>
            </a:r>
            <a:endParaRPr sz="15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500" b="1"/>
              <a:t>Can lead to passive learning and lower student engagement.</a:t>
            </a:r>
            <a:endParaRPr sz="15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500" b="1"/>
              <a:t>Less opportunity to develop critical thinking and collaboration skills.</a:t>
            </a:r>
            <a:endParaRPr sz="15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500" b="1"/>
              <a:t>A one-size-fits-all approach ignores diverse learning paces.</a:t>
            </a:r>
            <a:endParaRPr sz="1500" b="1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Pros &amp; Cons of Teacher-Centered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535" y="1598295"/>
            <a:ext cx="8509635" cy="4466590"/>
          </a:xfrm>
        </p:spPr>
        <p:txBody>
          <a:bodyPr>
            <a:normAutofit fontScale="80000"/>
          </a:bodyPr>
          <a:lstStyle/>
          <a:p/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Role of Teacher: Facilitator, guide, or 'Guide on the Side'.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Role of Student: Active constructor of their own knowledge.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Instruction Style: Inquiry-based, collaborative, and discovery learning.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Classroom Dynamics: Interactive, dynamic, and sometimes noisy.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Assessment: Formative, project-based, portfolios, and peer-review.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Student-Centered Pedagogy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045" y="1452880"/>
            <a:ext cx="9700260" cy="4473575"/>
          </a:xfrm>
        </p:spPr>
        <p:txBody>
          <a:bodyPr>
            <a:noAutofit/>
          </a:bodyPr>
          <a:lstStyle/>
          <a:p>
            <a:endParaRPr sz="1900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sz="1600" b="1"/>
              <a:t>Advantages:</a:t>
            </a:r>
            <a:endParaRPr sz="16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600" b="1"/>
              <a:t>Fosters deep learning, critical thinking, and problem-solving.</a:t>
            </a:r>
            <a:endParaRPr sz="16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600" b="1"/>
              <a:t>High student engagement and ownership of learning.</a:t>
            </a:r>
            <a:endParaRPr sz="16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600" b="1"/>
              <a:t>Accommodates diverse learning styles and encourages collaboration.</a:t>
            </a:r>
            <a:endParaRPr sz="1600" b="1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sz="1600" b="1"/>
              <a:t>Disadvantages:</a:t>
            </a:r>
            <a:endParaRPr sz="16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600" b="1"/>
              <a:t>Time-consuming; less content might be covered.</a:t>
            </a:r>
            <a:endParaRPr sz="16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600" b="1"/>
              <a:t>Requires excellent classroom management and flexibility.</a:t>
            </a:r>
            <a:endParaRPr sz="1600" b="1"/>
          </a:p>
          <a:p>
            <a:pPr lvl="1">
              <a:spcAft>
                <a:spcPts val="2000"/>
              </a:spcAft>
              <a:defRPr sz="2200">
                <a:solidFill>
                  <a:srgbClr val="505050"/>
                </a:solidFill>
                <a:latin typeface="Segoe UI"/>
              </a:defRPr>
            </a:pPr>
            <a:r>
              <a:rPr sz="1600" b="1"/>
              <a:t>Some students may struggle without strict structure.</a:t>
            </a:r>
            <a:endParaRPr sz="1600" b="1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Pros &amp; Cons of Student-Centered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757680"/>
            <a:ext cx="9964420" cy="4124960"/>
          </a:xfrm>
        </p:spPr>
        <p:txBody>
          <a:bodyPr>
            <a:normAutofit fontScale="90000"/>
          </a:bodyPr>
          <a:lstStyle/>
          <a:p/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b="0"/>
              <a:t>Focus: Instructor vs. Learner.</a:t>
            </a:r>
            <a:endParaRPr b="0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b="0"/>
              <a:t>Knowledge: Transmitted by teacher vs. Constructed by student.</a:t>
            </a:r>
            <a:endParaRPr b="0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b="0"/>
              <a:t>Power Dynamic: Teacher controls learning vs. Shared responsibility.</a:t>
            </a:r>
            <a:endParaRPr b="0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b="0"/>
              <a:t>Questions: Teacher asks to check understanding vs. Students ask to drive learning.</a:t>
            </a:r>
            <a:endParaRPr b="0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b="0"/>
              <a:t>Classroom Structure: Rigid/Uniform vs. Flexible/Adaptable.</a:t>
            </a:r>
            <a:endParaRPr b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 Side-by-Side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215" y="1828800"/>
            <a:ext cx="10339070" cy="4570095"/>
          </a:xfrm>
        </p:spPr>
        <p:txBody>
          <a:bodyPr>
            <a:normAutofit fontScale="90000"/>
          </a:bodyPr>
          <a:lstStyle/>
          <a:p/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Effective teaching is rarely 100% one or the other.</a:t>
            </a:r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Start with direct instruction (Teacher-Centered) to build foundations.</a:t>
            </a:r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Move to guided practice and inquiry (Student-Centered) to deepen understanding.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rPr b="0"/>
              <a:t>Scaffold learning: Gradually release responsibility to the students.</a:t>
            </a:r>
            <a:endParaRPr b="0"/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Adapt based on the subject matter, age group, and learning goals.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The Blended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015" y="1828800"/>
            <a:ext cx="10547350" cy="4200525"/>
          </a:xfrm>
        </p:spPr>
        <p:txBody>
          <a:bodyPr>
            <a:normAutofit fontScale="70000"/>
          </a:bodyPr>
          <a:lstStyle/>
          <a:p/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Flipped Classroom: </a:t>
            </a:r>
            <a:r>
              <a:rPr b="0">
                <a:solidFill>
                  <a:srgbClr val="FF0000"/>
                </a:solidFill>
              </a:rPr>
              <a:t>Students learn concepts at home (video), do practice in class.</a:t>
            </a:r>
            <a:endParaRPr b="0">
              <a:solidFill>
                <a:srgbClr val="FF0000"/>
              </a:solidFill>
            </a:endParaRP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Think-Pair-Share: </a:t>
            </a:r>
            <a:r>
              <a:rPr b="0">
                <a:solidFill>
                  <a:srgbClr val="FF0000"/>
                </a:solidFill>
              </a:rPr>
              <a:t>Immediate active engagement during lectures</a:t>
            </a:r>
            <a:r>
              <a:rPr>
                <a:solidFill>
                  <a:srgbClr val="FF0000"/>
                </a:solidFill>
              </a:rPr>
              <a:t>.</a:t>
            </a:r>
            <a:endParaRPr>
              <a:solidFill>
                <a:srgbClr val="FF0000"/>
              </a:solidFill>
            </a:endParaRP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Project-Based Learning (PBL):</a:t>
            </a:r>
            <a:r>
              <a:rPr>
                <a:solidFill>
                  <a:srgbClr val="FF0000"/>
                </a:solidFill>
              </a:rPr>
              <a:t> </a:t>
            </a:r>
            <a:r>
              <a:rPr b="0">
                <a:solidFill>
                  <a:srgbClr val="FF0000"/>
                </a:solidFill>
              </a:rPr>
              <a:t>Exploring real-world problems over extended periods.</a:t>
            </a:r>
            <a:endParaRPr b="0"/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Socratic Questioning: </a:t>
            </a:r>
            <a:r>
              <a:rPr b="0">
                <a:solidFill>
                  <a:srgbClr val="FF0000"/>
                </a:solidFill>
              </a:rPr>
              <a:t>Guiding students to answers through structured questioning.</a:t>
            </a:r>
            <a:endParaRPr>
              <a:solidFill>
                <a:srgbClr val="FF0000"/>
              </a:solidFill>
            </a:endParaRP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Choice Boards: </a:t>
            </a:r>
            <a:r>
              <a:rPr b="0">
                <a:solidFill>
                  <a:srgbClr val="FF0000"/>
                </a:solidFill>
              </a:rPr>
              <a:t>Allowing students to choose how they demonstrate understanding.</a:t>
            </a:r>
            <a:endParaRPr b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Practical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80" y="1641475"/>
            <a:ext cx="9565640" cy="4306570"/>
          </a:xfrm>
        </p:spPr>
        <p:txBody>
          <a:bodyPr>
            <a:normAutofit fontScale="90000" lnSpcReduction="20000"/>
          </a:bodyPr>
          <a:lstStyle/>
          <a:p/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Both approaches have distinct strengths and appropriate contexts.</a:t>
            </a:r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Effective educators adapt their pedagogy to their students' needs.</a:t>
            </a:r>
          </a:p>
          <a:p>
            <a:pPr>
              <a:spcAft>
                <a:spcPts val="2000"/>
              </a:spcAft>
              <a:defRPr sz="2600" b="1">
                <a:solidFill>
                  <a:srgbClr val="14233C"/>
                </a:solidFill>
                <a:latin typeface="Segoe UI"/>
              </a:defRPr>
            </a:pPr>
            <a:r>
              <a:t>Reflection: How can you incrementally introduce more student-centered activities?</a:t>
            </a:r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Questions? Comments? Shared Experiences?</a:t>
            </a:r>
          </a:p>
          <a:p>
            <a:pPr>
              <a:spcAft>
                <a:spcPts val="2000"/>
              </a:spcAft>
              <a:defRPr sz="2600">
                <a:solidFill>
                  <a:srgbClr val="14233C"/>
                </a:solidFill>
                <a:latin typeface="Segoe UI"/>
              </a:defRPr>
            </a:pPr>
            <a:r>
              <a:t>Thank you for your dedication to teaching and learning!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Conclusion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  <a:latin typeface="Segoe UI"/>
              </a:defRPr>
            </a:pPr>
            <a:r>
              <a:t>Student vs. Teacher Centered Pedagogy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05050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3684</Words>
  <Application>WPS Docs</Application>
  <PresentationFormat>On-screen Show (4:3)</PresentationFormat>
  <Paragraphs>119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</vt:lpstr>
      <vt:lpstr>Segoe UI</vt:lpstr>
      <vt:lpstr>Thonburi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Olumide</cp:lastModifiedBy>
  <cp:revision>2</cp:revision>
  <dcterms:created xsi:type="dcterms:W3CDTF">2026-06-06T18:59:39Z</dcterms:created>
  <dcterms:modified xsi:type="dcterms:W3CDTF">2026-06-06T18:59:39Z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4472F7AB63BCDAC31B6E246A8697DD8E_42</vt:lpwstr>
  </property>
  <property fmtid="{D5CDD505-2E9C-101B-9397-08002B2CF9AE}" pid="3" name="KSOProductBuildVer">
    <vt:lpwstr>1033-12.1.25897.25897</vt:lpwstr>
  </property>
</Properties>
</file>