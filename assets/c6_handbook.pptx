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7498080" y="-548640"/>
            <a:ext cx="2560320" cy="2560320"/>
          </a:xfrm>
          <a:prstGeom prst="ellipse">
            <a:avLst/>
          </a:prstGeom>
          <a:solidFill>
            <a:srgbClr val="5B21B6">
              <a:alpha val="3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138160" y="-182880"/>
            <a:ext cx="1645920" cy="1645920"/>
          </a:xfrm>
          <a:prstGeom prst="ellipse">
            <a:avLst/>
          </a:prstGeom>
          <a:solidFill>
            <a:srgbClr val="06B6D4">
              <a:alpha val="40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74320" y="4023360"/>
            <a:ext cx="1280160" cy="1280160"/>
          </a:xfrm>
          <a:prstGeom prst="ellipse">
            <a:avLst/>
          </a:prstGeom>
          <a:solidFill>
            <a:srgbClr val="06B6D4">
              <a:alpha val="2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4389120"/>
            <a:ext cx="822960" cy="822960"/>
          </a:xfrm>
          <a:prstGeom prst="ellipse">
            <a:avLst/>
          </a:prstGeom>
          <a:solidFill>
            <a:srgbClr val="10B981">
              <a:alpha val="40000"/>
            </a:srgbClr>
          </a:solidFill>
          <a:ln w="12700">
            <a:solidFill>
              <a:srgbClr val="10B981"/>
            </a:solidFill>
            <a:prstDash val="solid"/>
          </a:ln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1463040"/>
            <a:ext cx="2011680" cy="20116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640080"/>
            <a:ext cx="5303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FOR EDUCATORS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31520" y="105156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Teaching Made Easy</a:t>
            </a:r>
            <a:endParaRPr lang="en-US" sz="4000" dirty="0"/>
          </a:p>
        </p:txBody>
      </p:sp>
      <p:sp>
        <p:nvSpPr>
          <p:cNvPr id="10" name="Text 7"/>
          <p:cNvSpPr/>
          <p:nvPr/>
        </p:nvSpPr>
        <p:spPr>
          <a:xfrm>
            <a:off x="731520" y="182880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with AI &amp;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31520" y="2578608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Digital Tools</a:t>
            </a:r>
            <a:endParaRPr lang="en-US" sz="4000" dirty="0"/>
          </a:p>
        </p:txBody>
      </p:sp>
      <p:sp>
        <p:nvSpPr>
          <p:cNvPr id="12" name="Text 9"/>
          <p:cNvSpPr/>
          <p:nvPr/>
        </p:nvSpPr>
        <p:spPr>
          <a:xfrm>
            <a:off x="731520" y="3493008"/>
            <a:ext cx="5669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strategies to transform your classroom with technology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731520" y="4370832"/>
            <a:ext cx="1325880" cy="347472"/>
          </a:xfrm>
          <a:prstGeom prst="rect">
            <a:avLst>
              <a:gd name="adj" fmla="val 21053"/>
            </a:avLst>
          </a:prstGeom>
          <a:solidFill>
            <a:srgbClr val="5B21B6">
              <a:alpha val="70000"/>
            </a:srgbClr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" y="43708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2240280" y="4370832"/>
            <a:ext cx="1325880" cy="347472"/>
          </a:xfrm>
          <a:prstGeom prst="rect">
            <a:avLst>
              <a:gd name="adj" fmla="val 21053"/>
            </a:avLst>
          </a:prstGeom>
          <a:solidFill>
            <a:srgbClr val="5B21B6">
              <a:alpha val="70000"/>
            </a:srgbClr>
          </a:solidFill>
          <a:ln/>
        </p:spPr>
      </p:sp>
      <p:sp>
        <p:nvSpPr>
          <p:cNvPr id="16" name="Text 13"/>
          <p:cNvSpPr/>
          <p:nvPr/>
        </p:nvSpPr>
        <p:spPr>
          <a:xfrm>
            <a:off x="2240280" y="43708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Pedagogy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3749040" y="4370832"/>
            <a:ext cx="1325880" cy="347472"/>
          </a:xfrm>
          <a:prstGeom prst="rect">
            <a:avLst>
              <a:gd name="adj" fmla="val 21053"/>
            </a:avLst>
          </a:prstGeom>
          <a:solidFill>
            <a:srgbClr val="5B21B6">
              <a:alpha val="70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3749040" y="43708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EdTech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5257800" y="4370832"/>
            <a:ext cx="1325880" cy="347472"/>
          </a:xfrm>
          <a:prstGeom prst="rect">
            <a:avLst>
              <a:gd name="adj" fmla="val 21053"/>
            </a:avLst>
          </a:prstGeom>
          <a:solidFill>
            <a:srgbClr val="5B21B6">
              <a:alpha val="70000"/>
            </a:srgbClr>
          </a:solidFill>
          <a:ln/>
        </p:spPr>
      </p:sp>
      <p:sp>
        <p:nvSpPr>
          <p:cNvPr id="20" name="Text 17"/>
          <p:cNvSpPr/>
          <p:nvPr/>
        </p:nvSpPr>
        <p:spPr>
          <a:xfrm>
            <a:off x="5257800" y="4370832"/>
            <a:ext cx="13258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3" name="Text 1"/>
          <p:cNvSpPr/>
          <p:nvPr/>
        </p:nvSpPr>
        <p:spPr>
          <a:xfrm>
            <a:off x="228600" y="50292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We'll</a:t>
            </a:r>
            <a:endParaRPr lang="en-US" sz="2800" dirty="0"/>
          </a:p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Explore</a:t>
            </a:r>
            <a:endParaRPr lang="en-US" sz="2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210312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8600" y="32918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powerful ideas to bring AI &amp; technology into your teaching practice.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520440" y="347472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3520440" y="347472"/>
            <a:ext cx="41148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3520440" y="34747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023360" y="457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AI Matters in Education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520440" y="1280160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520440" y="1280160"/>
            <a:ext cx="411480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9"/>
          <p:cNvSpPr/>
          <p:nvPr/>
        </p:nvSpPr>
        <p:spPr>
          <a:xfrm>
            <a:off x="3520440" y="12801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023360" y="13898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 for Lesson Planning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3520440" y="2212848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520440" y="2212848"/>
            <a:ext cx="41148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3520440" y="221284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023360" y="23225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Learning with AI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3520440" y="3145536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3520440" y="3145536"/>
            <a:ext cx="411480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0" name="Text 17"/>
          <p:cNvSpPr/>
          <p:nvPr/>
        </p:nvSpPr>
        <p:spPr>
          <a:xfrm>
            <a:off x="3520440" y="31455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4023360" y="3255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Engagement &amp; Gamification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3520440" y="4078224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520440" y="4078224"/>
            <a:ext cx="41148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3520440" y="407822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4023360" y="41879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 &amp; Feedback Tools</a:t>
            </a:r>
            <a:endParaRPr lang="en-US" sz="1100" dirty="0"/>
          </a:p>
        </p:txBody>
      </p:sp>
      <p:sp>
        <p:nvSpPr>
          <p:cNvPr id="26" name="Shape 23"/>
          <p:cNvSpPr/>
          <p:nvPr/>
        </p:nvSpPr>
        <p:spPr>
          <a:xfrm>
            <a:off x="6263640" y="347472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7" name="Shape 24"/>
          <p:cNvSpPr/>
          <p:nvPr/>
        </p:nvSpPr>
        <p:spPr>
          <a:xfrm>
            <a:off x="6263640" y="347472"/>
            <a:ext cx="411480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5"/>
          <p:cNvSpPr/>
          <p:nvPr/>
        </p:nvSpPr>
        <p:spPr>
          <a:xfrm>
            <a:off x="6263640" y="347472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6766560" y="457200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Collaboration Platforms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6263640" y="1280160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263640" y="1280160"/>
            <a:ext cx="41148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2" name="Text 29"/>
          <p:cNvSpPr/>
          <p:nvPr/>
        </p:nvSpPr>
        <p:spPr>
          <a:xfrm>
            <a:off x="6263640" y="1280160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0"/>
          <p:cNvSpPr/>
          <p:nvPr/>
        </p:nvSpPr>
        <p:spPr>
          <a:xfrm>
            <a:off x="6766560" y="1389888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Creation &amp; Multimedia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6263640" y="2212848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5" name="Shape 32"/>
          <p:cNvSpPr/>
          <p:nvPr/>
        </p:nvSpPr>
        <p:spPr>
          <a:xfrm>
            <a:off x="6263640" y="2212848"/>
            <a:ext cx="411480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6" name="Text 33"/>
          <p:cNvSpPr/>
          <p:nvPr/>
        </p:nvSpPr>
        <p:spPr>
          <a:xfrm>
            <a:off x="6263640" y="2212848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4"/>
          <p:cNvSpPr/>
          <p:nvPr/>
        </p:nvSpPr>
        <p:spPr>
          <a:xfrm>
            <a:off x="6766560" y="2322576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Data-Driven Teaching Decisions</a:t>
            </a:r>
            <a:endParaRPr lang="en-US" sz="1100" dirty="0"/>
          </a:p>
        </p:txBody>
      </p:sp>
      <p:sp>
        <p:nvSpPr>
          <p:cNvPr id="38" name="Shape 35"/>
          <p:cNvSpPr/>
          <p:nvPr/>
        </p:nvSpPr>
        <p:spPr>
          <a:xfrm>
            <a:off x="6263640" y="3145536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6263640" y="3145536"/>
            <a:ext cx="411480" cy="80467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0" name="Text 37"/>
          <p:cNvSpPr/>
          <p:nvPr/>
        </p:nvSpPr>
        <p:spPr>
          <a:xfrm>
            <a:off x="6263640" y="3145536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8"/>
          <p:cNvSpPr/>
          <p:nvPr/>
        </p:nvSpPr>
        <p:spPr>
          <a:xfrm>
            <a:off x="6766560" y="3255264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Ethical Use of AI in Schools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6263640" y="4078224"/>
            <a:ext cx="251460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6263640" y="4078224"/>
            <a:ext cx="411480" cy="80467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44" name="Text 41"/>
          <p:cNvSpPr/>
          <p:nvPr/>
        </p:nvSpPr>
        <p:spPr>
          <a:xfrm>
            <a:off x="6263640" y="4078224"/>
            <a:ext cx="411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100" dirty="0"/>
          </a:p>
        </p:txBody>
      </p:sp>
      <p:sp>
        <p:nvSpPr>
          <p:cNvPr id="45" name="Text 42"/>
          <p:cNvSpPr/>
          <p:nvPr/>
        </p:nvSpPr>
        <p:spPr>
          <a:xfrm>
            <a:off x="6766560" y="418795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Your Digital Toolkit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5B21B6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  |  Why AI Matters in Education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651760" cy="32918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1234440"/>
            <a:ext cx="2651760" cy="73152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14173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60%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teachers report AI saves them 2+ hours per week on planning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200400" y="1234440"/>
            <a:ext cx="2651760" cy="32918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00400" y="1234440"/>
            <a:ext cx="265176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0" name="Text 8"/>
          <p:cNvSpPr/>
          <p:nvPr/>
        </p:nvSpPr>
        <p:spPr>
          <a:xfrm>
            <a:off x="3200400" y="14173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3×</a:t>
            </a:r>
            <a:endParaRPr lang="en-US" sz="5600" dirty="0"/>
          </a:p>
        </p:txBody>
      </p:sp>
      <p:sp>
        <p:nvSpPr>
          <p:cNvPr id="11" name="Text 9"/>
          <p:cNvSpPr/>
          <p:nvPr/>
        </p:nvSpPr>
        <p:spPr>
          <a:xfrm>
            <a:off x="333756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improvement in student engagement when AI-powered tools are used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080760" y="1234440"/>
            <a:ext cx="2651760" cy="32918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080760" y="1234440"/>
            <a:ext cx="2651760" cy="73152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6080760" y="1417320"/>
            <a:ext cx="265176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78%</a:t>
            </a:r>
            <a:endParaRPr lang="en-US" sz="5600" dirty="0"/>
          </a:p>
        </p:txBody>
      </p:sp>
      <p:sp>
        <p:nvSpPr>
          <p:cNvPr id="15" name="Text 13"/>
          <p:cNvSpPr/>
          <p:nvPr/>
        </p:nvSpPr>
        <p:spPr>
          <a:xfrm>
            <a:off x="6217920" y="2514600"/>
            <a:ext cx="2377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students prefer personalised learning pathways enabled by AI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doesn't replace great teachers — it amplifies them.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  |  AI Tools for Lesson Planning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365760" y="896112"/>
            <a:ext cx="4937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896112"/>
            <a:ext cx="109728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95097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ChatGPT / Claude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94360" y="126187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lesson outlines, discussion questions, differentiated materials in seconds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1901952"/>
            <a:ext cx="4937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1901952"/>
            <a:ext cx="109728" cy="86868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95681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MagicSchool AI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226771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Purpose-built for educators: lesson plans, rubrics, IEPs, and email drafting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65760" y="2907792"/>
            <a:ext cx="4937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2907792"/>
            <a:ext cx="109728" cy="86868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296265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Curipod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94360" y="327355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Instantly generate interactive slide decks with polls and open-ended tasks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3913632"/>
            <a:ext cx="493776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3913632"/>
            <a:ext cx="109728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94360" y="3968496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Khanmigo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4279392"/>
            <a:ext cx="45720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tutor and teaching assistant built on Khan Academy's content framework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623560" y="896112"/>
            <a:ext cx="3108960" cy="3931920"/>
          </a:xfrm>
          <a:prstGeom prst="rect">
            <a:avLst/>
          </a:prstGeom>
          <a:solidFill>
            <a:srgbClr val="0F1B2D"/>
          </a:solidFill>
          <a:ln/>
        </p:spPr>
      </p:sp>
      <p:sp>
        <p:nvSpPr>
          <p:cNvPr id="20" name="Text 18"/>
          <p:cNvSpPr/>
          <p:nvPr/>
        </p:nvSpPr>
        <p:spPr>
          <a:xfrm>
            <a:off x="5623560" y="100584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Saved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Week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715000" y="1965960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812280" y="2002536"/>
            <a:ext cx="2286000" cy="27432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23" name="Shape 21"/>
          <p:cNvSpPr/>
          <p:nvPr/>
        </p:nvSpPr>
        <p:spPr>
          <a:xfrm>
            <a:off x="6812280" y="2002536"/>
            <a:ext cx="182880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0" y="1965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715000" y="2715768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12280" y="2752344"/>
            <a:ext cx="2286000" cy="27432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27" name="Shape 25"/>
          <p:cNvSpPr/>
          <p:nvPr/>
        </p:nvSpPr>
        <p:spPr>
          <a:xfrm>
            <a:off x="6812280" y="2752344"/>
            <a:ext cx="1371600" cy="27432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8" name="Text 26"/>
          <p:cNvSpPr/>
          <p:nvPr/>
        </p:nvSpPr>
        <p:spPr>
          <a:xfrm>
            <a:off x="8229600" y="27157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1.8h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715000" y="3465576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Feedback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812280" y="3502152"/>
            <a:ext cx="2286000" cy="27432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31" name="Shape 29"/>
          <p:cNvSpPr/>
          <p:nvPr/>
        </p:nvSpPr>
        <p:spPr>
          <a:xfrm>
            <a:off x="6812280" y="3502152"/>
            <a:ext cx="1143000" cy="27432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2" name="Text 30"/>
          <p:cNvSpPr/>
          <p:nvPr/>
        </p:nvSpPr>
        <p:spPr>
          <a:xfrm>
            <a:off x="8001000" y="346557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1.5h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715000" y="4215384"/>
            <a:ext cx="1051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12280" y="4251960"/>
            <a:ext cx="2286000" cy="27432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35" name="Shape 33"/>
          <p:cNvSpPr/>
          <p:nvPr/>
        </p:nvSpPr>
        <p:spPr>
          <a:xfrm>
            <a:off x="6812280" y="4251960"/>
            <a:ext cx="914400" cy="27432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6" name="Text 34"/>
          <p:cNvSpPr/>
          <p:nvPr/>
        </p:nvSpPr>
        <p:spPr>
          <a:xfrm>
            <a:off x="7772400" y="421538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1.2h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623560" y="4663440"/>
            <a:ext cx="31089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saved (avg)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  |  Personalised Learning with AI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600200" y="2587752"/>
            <a:ext cx="2743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5" name="Shape 3"/>
          <p:cNvSpPr/>
          <p:nvPr/>
        </p:nvSpPr>
        <p:spPr>
          <a:xfrm>
            <a:off x="3264408" y="2587752"/>
            <a:ext cx="2743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6" name="Shape 4"/>
          <p:cNvSpPr/>
          <p:nvPr/>
        </p:nvSpPr>
        <p:spPr>
          <a:xfrm>
            <a:off x="4928616" y="2587752"/>
            <a:ext cx="2743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7" name="Shape 5"/>
          <p:cNvSpPr/>
          <p:nvPr/>
        </p:nvSpPr>
        <p:spPr>
          <a:xfrm>
            <a:off x="6592824" y="2587752"/>
            <a:ext cx="274320" cy="91440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8" name="Shape 6"/>
          <p:cNvSpPr/>
          <p:nvPr/>
        </p:nvSpPr>
        <p:spPr>
          <a:xfrm>
            <a:off x="621792" y="1234440"/>
            <a:ext cx="914400" cy="914400"/>
          </a:xfrm>
          <a:prstGeom prst="ellipse">
            <a:avLst/>
          </a:prstGeom>
          <a:solidFill>
            <a:srgbClr val="06B6D4">
              <a:alpha val="20000"/>
            </a:srgbClr>
          </a:solidFill>
          <a:ln w="25400">
            <a:solidFill>
              <a:srgbClr val="06B6D4"/>
            </a:solidFill>
            <a:prstDash val="solid"/>
          </a:ln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" y="1399032"/>
            <a:ext cx="594360" cy="5943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7432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Diagnose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274320" y="272491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assesses prior knowledge &amp; learning gaps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313432" y="1234440"/>
            <a:ext cx="914400" cy="914400"/>
          </a:xfrm>
          <a:prstGeom prst="ellipse">
            <a:avLst/>
          </a:prstGeom>
          <a:solidFill>
            <a:srgbClr val="7C3AED">
              <a:alpha val="20000"/>
            </a:srgbClr>
          </a:solidFill>
          <a:ln w="25400">
            <a:solidFill>
              <a:srgbClr val="7C3AED"/>
            </a:solidFill>
            <a:prstDash val="solid"/>
          </a:ln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024" y="1399032"/>
            <a:ext cx="594360" cy="59436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96596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1965960" y="272491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pace adjusted to each learner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4005072" y="1234440"/>
            <a:ext cx="914400" cy="914400"/>
          </a:xfrm>
          <a:prstGeom prst="ellipse">
            <a:avLst/>
          </a:prstGeom>
          <a:solidFill>
            <a:srgbClr val="10B981">
              <a:alpha val="20000"/>
            </a:srgbClr>
          </a:solidFill>
          <a:ln w="25400">
            <a:solidFill>
              <a:srgbClr val="10B981"/>
            </a:solidFill>
            <a:prstDash val="solid"/>
          </a:ln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664" y="1399032"/>
            <a:ext cx="594360" cy="5943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65760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Practice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3657600" y="272491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exercises at the right challenge level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5696712" y="1234440"/>
            <a:ext cx="914400" cy="914400"/>
          </a:xfrm>
          <a:prstGeom prst="ellipse">
            <a:avLst/>
          </a:prstGeom>
          <a:solidFill>
            <a:srgbClr val="F59E0B">
              <a:alpha val="20000"/>
            </a:srgbClr>
          </a:solidFill>
          <a:ln w="25400">
            <a:solidFill>
              <a:srgbClr val="F59E0B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61304" y="1399032"/>
            <a:ext cx="594360" cy="5943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34924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Analyse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5349240" y="272491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data on progress and misconceptions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88352" y="1234440"/>
            <a:ext cx="914400" cy="914400"/>
          </a:xfrm>
          <a:prstGeom prst="ellipse">
            <a:avLst/>
          </a:prstGeom>
          <a:solidFill>
            <a:srgbClr val="5B21B6">
              <a:alpha val="20000"/>
            </a:srgbClr>
          </a:solidFill>
          <a:ln w="25400">
            <a:solidFill>
              <a:srgbClr val="5B21B6"/>
            </a:solidFill>
            <a:prstDash val="solid"/>
          </a:ln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52944" y="1399032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040880" y="2286000"/>
            <a:ext cx="1600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Accelerate</a:t>
            </a:r>
            <a:endParaRPr lang="en-US" sz="1300" dirty="0"/>
          </a:p>
        </p:txBody>
      </p:sp>
      <p:sp>
        <p:nvSpPr>
          <p:cNvPr id="27" name="Text 20"/>
          <p:cNvSpPr/>
          <p:nvPr/>
        </p:nvSpPr>
        <p:spPr>
          <a:xfrm>
            <a:off x="7040880" y="2724912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move forward when ready — no waiting</a:t>
            </a:r>
            <a:endParaRPr lang="en-US" sz="1100" dirty="0"/>
          </a:p>
        </p:txBody>
      </p:sp>
      <p:sp>
        <p:nvSpPr>
          <p:cNvPr id="28" name="Text 21"/>
          <p:cNvSpPr/>
          <p:nvPr/>
        </p:nvSpPr>
        <p:spPr>
          <a:xfrm>
            <a:off x="457200" y="4224528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Leading Adaptive Platforms: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2606040" y="4251960"/>
            <a:ext cx="1188720" cy="329184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0" name="Text 23"/>
          <p:cNvSpPr/>
          <p:nvPr/>
        </p:nvSpPr>
        <p:spPr>
          <a:xfrm>
            <a:off x="260604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Khan Academy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3886200" y="4251960"/>
            <a:ext cx="1188720" cy="329184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2" name="Text 25"/>
          <p:cNvSpPr/>
          <p:nvPr/>
        </p:nvSpPr>
        <p:spPr>
          <a:xfrm>
            <a:off x="388620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Duolingo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5166360" y="4251960"/>
            <a:ext cx="1188720" cy="329184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4" name="Text 27"/>
          <p:cNvSpPr/>
          <p:nvPr/>
        </p:nvSpPr>
        <p:spPr>
          <a:xfrm>
            <a:off x="516636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Century Tech</a:t>
            </a:r>
            <a:endParaRPr lang="en-US" sz="1000" dirty="0"/>
          </a:p>
        </p:txBody>
      </p:sp>
      <p:sp>
        <p:nvSpPr>
          <p:cNvPr id="35" name="Shape 28"/>
          <p:cNvSpPr/>
          <p:nvPr/>
        </p:nvSpPr>
        <p:spPr>
          <a:xfrm>
            <a:off x="6446520" y="4251960"/>
            <a:ext cx="1188720" cy="329184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6" name="Text 29"/>
          <p:cNvSpPr/>
          <p:nvPr/>
        </p:nvSpPr>
        <p:spPr>
          <a:xfrm>
            <a:off x="644652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Sparrow</a:t>
            </a:r>
            <a:endParaRPr lang="en-US" sz="1000" dirty="0"/>
          </a:p>
        </p:txBody>
      </p:sp>
      <p:sp>
        <p:nvSpPr>
          <p:cNvPr id="37" name="Shape 30"/>
          <p:cNvSpPr/>
          <p:nvPr/>
        </p:nvSpPr>
        <p:spPr>
          <a:xfrm>
            <a:off x="7726680" y="4251960"/>
            <a:ext cx="1188720" cy="329184"/>
          </a:xfrm>
          <a:prstGeom prst="rect">
            <a:avLst/>
          </a:prstGeom>
          <a:solidFill>
            <a:srgbClr val="5B21B6">
              <a:alpha val="60000"/>
            </a:srgbClr>
          </a:solidFill>
          <a:ln/>
        </p:spPr>
      </p:sp>
      <p:sp>
        <p:nvSpPr>
          <p:cNvPr id="38" name="Text 31"/>
          <p:cNvSpPr/>
          <p:nvPr/>
        </p:nvSpPr>
        <p:spPr>
          <a:xfrm>
            <a:off x="7726680" y="4251960"/>
            <a:ext cx="11887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  |  Student Engagement &amp; Gamification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20040" y="91440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914400"/>
            <a:ext cx="4160520" cy="73152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09728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33272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Game-Based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57200" y="157276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Kahoot!, Quizizz &amp; Blooket turn revision into competitions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Classcraft builds RPG narratives around classroom behaviour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 adapts maths challenges to student level in real time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754880" y="91440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754880" y="914400"/>
            <a:ext cx="4160520" cy="73152"/>
          </a:xfrm>
          <a:prstGeom prst="rect">
            <a:avLst/>
          </a:prstGeom>
          <a:solidFill>
            <a:srgbClr val="06B6D4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92040" y="1097280"/>
            <a:ext cx="457200" cy="457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468112" y="10972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Interactive Video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4892040" y="157276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Edpuzzle embeds questions mid-video to prevent passive viewing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Nearpod lets teachers control video pacing live or async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Loom enables teacher video feedback on student work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320040" y="297180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20040" y="2971800"/>
            <a:ext cx="4160520" cy="73152"/>
          </a:xfrm>
          <a:prstGeom prst="rect">
            <a:avLst/>
          </a:prstGeom>
          <a:solidFill>
            <a:srgbClr val="10B981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315468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033272" y="3154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Polls &amp; Feedback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7200" y="363016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Mentimeter creates real-time word clouds and opinion polls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Slido enables anonymous Q&amp;A in large group settings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Padlet builds collaborative digital notice boards instantly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4754880" y="2971800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2971800"/>
            <a:ext cx="4160520" cy="73152"/>
          </a:xfrm>
          <a:prstGeom prst="rect">
            <a:avLst/>
          </a:prstGeom>
          <a:solidFill>
            <a:srgbClr val="F59E0B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154680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68112" y="3154680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Collaborative Tools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4892040" y="3630168"/>
            <a:ext cx="388620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Workspace enables real-time co-authoring of documents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Miro &amp; Jamboard replace physical whiteboards digitally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Flip (Flipgrid) turns video responses into class discussions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320040" y="4846320"/>
            <a:ext cx="8549640" cy="64008"/>
          </a:xfrm>
          <a:prstGeom prst="rect">
            <a:avLst/>
          </a:prstGeom>
          <a:solidFill>
            <a:srgbClr val="5B21B6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05  |  Assessment &amp; Feedback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20040" y="1143000"/>
            <a:ext cx="3931920" cy="379476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143000"/>
            <a:ext cx="3931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4A3B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Traditional Feedback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171907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Days or weeks to receive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231343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One-size-fits-all comments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90779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Limited to teachers'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" y="350215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Static, no follow-up path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4096512"/>
            <a:ext cx="35661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Hard to track over time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572000" y="1143000"/>
            <a:ext cx="4206240" cy="379476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0" y="1143000"/>
            <a:ext cx="4206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AI-Powered Feedback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754880" y="171907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Instant, 24/7 availability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231343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Personalised per student response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54880" y="290779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Scales to entire class at once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0" y="350215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Suggests next steps automatically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754880" y="4096512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Builds longitudinal learner profile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20040" y="4773168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Tools: Turnitin AI  ·  Grammarly  ·  Gradescope  ·  Formative  ·  Edulastic  ·  Google Forms + AI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1F5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5B21B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06 &amp; 07  |  Collaboration &amp; Content Creation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20040" y="868680"/>
            <a:ext cx="4023360" cy="4572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4" name="Text 2"/>
          <p:cNvSpPr/>
          <p:nvPr/>
        </p:nvSpPr>
        <p:spPr>
          <a:xfrm>
            <a:off x="32004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Collaboration Platforms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444752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75488" y="14996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Workspace for Education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75488" y="18105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docs, slides, sheets with class management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0040" y="2359152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" y="24140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Microsoft Teams for Education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75488" y="27249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Chat, video, assignment &amp; OneNote integration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0040" y="3273552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" y="33284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Seesaw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" y="36393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portfolios connecting students, teachers &amp; parents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4187952"/>
            <a:ext cx="402336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" y="4242816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Wakelet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75488" y="4553712"/>
            <a:ext cx="3703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 and share multimedia content collections easily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17720" y="868680"/>
            <a:ext cx="4206240" cy="457200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617720" y="868680"/>
            <a:ext cx="4206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Content Creation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4617720" y="1444752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773168" y="14996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Canva for Education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773168" y="18105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stunning worksheets, presentations &amp; infographics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359152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73168" y="24140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Adobe Express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73168" y="27249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multimedia content with AI image and text tools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17720" y="3273552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773168" y="33284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Book Creator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773168" y="36393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build digital books, comics, and e-publications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617720" y="4187952"/>
            <a:ext cx="4206240" cy="8046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773168" y="4242816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Synthesia / HeyGen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773168" y="4553712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AI avatar explainer videos without filming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08 &amp; 09  |  Data-Driven Decisions &amp; Ethical AI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Data to Teach Better</a:t>
            </a:r>
            <a:endParaRPr lang="en-US" sz="15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" y="1673352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41248" y="1600200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struggling students before they fall behind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472" y="2423160"/>
            <a:ext cx="38404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41248" y="2350008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learning trends across the whole class over time</a:t>
            </a:r>
            <a:endParaRPr lang="en-US" sz="12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472" y="3172968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41248" y="3099816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Pinpoint which topics need re-teaching or extension</a:t>
            </a:r>
            <a:endParaRPr lang="en-US" sz="125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472" y="3922776"/>
            <a:ext cx="384048" cy="384048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841248" y="3849624"/>
            <a:ext cx="3474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 grouping, pacing &amp; intervention decisions</a:t>
            </a:r>
            <a:endParaRPr lang="en-US" sz="1250" dirty="0"/>
          </a:p>
        </p:txBody>
      </p:sp>
      <p:sp>
        <p:nvSpPr>
          <p:cNvPr id="13" name="Text 7"/>
          <p:cNvSpPr/>
          <p:nvPr/>
        </p:nvSpPr>
        <p:spPr>
          <a:xfrm>
            <a:off x="320040" y="4663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 ClassDojo · Classcharts · Insight · Google Classroom Analytics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4709160" y="1097280"/>
            <a:ext cx="4114800" cy="3886200"/>
          </a:xfrm>
          <a:prstGeom prst="rect">
            <a:avLst/>
          </a:prstGeom>
          <a:solidFill>
            <a:srgbClr val="1E3557"/>
          </a:solidFill>
          <a:ln/>
        </p:spPr>
      </p:sp>
      <p:sp>
        <p:nvSpPr>
          <p:cNvPr id="15" name="Text 9"/>
          <p:cNvSpPr/>
          <p:nvPr/>
        </p:nvSpPr>
        <p:spPr>
          <a:xfrm>
            <a:off x="4846320" y="1170432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Ethical AI in the Classroom</a:t>
            </a:r>
            <a:endParaRPr lang="en-US" sz="1500" dirty="0"/>
          </a:p>
        </p:txBody>
      </p:sp>
      <p:sp>
        <p:nvSpPr>
          <p:cNvPr id="16" name="Text 10"/>
          <p:cNvSpPr/>
          <p:nvPr/>
        </p:nvSpPr>
        <p:spPr>
          <a:xfrm>
            <a:off x="4846320" y="169164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Transparent:</a:t>
            </a:r>
            <a:endParaRPr lang="en-US" sz="1150" dirty="0"/>
          </a:p>
        </p:txBody>
      </p:sp>
      <p:sp>
        <p:nvSpPr>
          <p:cNvPr id="17" name="Text 11"/>
          <p:cNvSpPr/>
          <p:nvPr/>
        </p:nvSpPr>
        <p:spPr>
          <a:xfrm>
            <a:off x="4846320" y="194767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students when AI is being used and why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4846320" y="2313432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Privacy:</a:t>
            </a:r>
            <a:endParaRPr lang="en-US" sz="1150" dirty="0"/>
          </a:p>
        </p:txBody>
      </p:sp>
      <p:sp>
        <p:nvSpPr>
          <p:cNvPr id="19" name="Text 13"/>
          <p:cNvSpPr/>
          <p:nvPr/>
        </p:nvSpPr>
        <p:spPr>
          <a:xfrm>
            <a:off x="4846320" y="2569464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share student data with unvetted platforms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846320" y="2935224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 Critical Thinking:</a:t>
            </a:r>
            <a:endParaRPr lang="en-US" sz="1150" dirty="0"/>
          </a:p>
        </p:txBody>
      </p:sp>
      <p:sp>
        <p:nvSpPr>
          <p:cNvPr id="21" name="Text 15"/>
          <p:cNvSpPr/>
          <p:nvPr/>
        </p:nvSpPr>
        <p:spPr>
          <a:xfrm>
            <a:off x="4846320" y="3191256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must question, verify and reflect on AI outputs</a:t>
            </a:r>
            <a:endParaRPr lang="en-US" sz="1100" dirty="0"/>
          </a:p>
        </p:txBody>
      </p:sp>
      <p:sp>
        <p:nvSpPr>
          <p:cNvPr id="22" name="Text 16"/>
          <p:cNvSpPr/>
          <p:nvPr/>
        </p:nvSpPr>
        <p:spPr>
          <a:xfrm>
            <a:off x="4846320" y="3557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Academic Integrity: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4846320" y="3813048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clear policies on AI use in assessments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4846320" y="41788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Inclusive: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4846320" y="443484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AI tools work equitably for all learners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5B21B6">
              <a:alpha val="20000"/>
            </a:srgbClr>
          </a:solidFill>
          <a:ln w="12700">
            <a:solidFill>
              <a:srgbClr val="5B21B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731520" y="3474720"/>
            <a:ext cx="2743200" cy="2743200"/>
          </a:xfrm>
          <a:prstGeom prst="ellipse">
            <a:avLst/>
          </a:prstGeom>
          <a:solidFill>
            <a:srgbClr val="06B6D4">
              <a:alpha val="15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  |  Build Your Digital Toolkit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small. Stay consistent. Keep growing.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65760" y="1261872"/>
            <a:ext cx="2651760" cy="35204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325880" y="1078992"/>
            <a:ext cx="731520" cy="73152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8" name="Text 6"/>
          <p:cNvSpPr/>
          <p:nvPr/>
        </p:nvSpPr>
        <p:spPr>
          <a:xfrm>
            <a:off x="1325880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" y="192024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Pick ONE AI tool this week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30352" y="2496312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MagicSchool AI or ChatGPT to create your next lesson plan or set of discussion questions.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91840" y="1261872"/>
            <a:ext cx="2651760" cy="35204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251960" y="1078992"/>
            <a:ext cx="731520" cy="7315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4251960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401568" y="192024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6B6D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Add a student engagement tool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3456432" y="2496312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Kahoot, Nearpod or Mentimeter to one lesson per week and gather student response.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17920" y="1261872"/>
            <a:ext cx="2651760" cy="3520440"/>
          </a:xfrm>
          <a:prstGeom prst="rect">
            <a:avLst/>
          </a:prstGeom>
          <a:solidFill>
            <a:srgbClr val="1E3557"/>
          </a:solidFill>
          <a:ln/>
          <a:effectLst>
            <a:outerShdw sx="100000" sy="100000" kx="0" ky="0" algn="bl" rotWithShape="0" blurRad="101600" dist="38100" dir="8100000">
              <a:srgbClr val="000000">
                <a:alpha val="2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178040" y="1078992"/>
            <a:ext cx="731520" cy="731520"/>
          </a:xfrm>
          <a:prstGeom prst="ellipse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7178040" y="1078992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B2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327648" y="1920240"/>
            <a:ext cx="24323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59E0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Share with your colleagues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382512" y="2496312"/>
            <a:ext cx="2322576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15-minute staff briefing on your favourite tool. Growth multiplies when teachers collaborate.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20"/>
          <p:cNvSpPr/>
          <p:nvPr/>
        </p:nvSpPr>
        <p:spPr>
          <a:xfrm>
            <a:off x="274320" y="4818888"/>
            <a:ext cx="85953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"Technology will never replace great teachers — but teachers who use technology will replace those who don't."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Teaching Made Easy with AI and Digital Tools</dc:title>
  <dc:subject>PptxGenJS Presentation</dc:subject>
  <dc:creator>PptxGenJS</dc:creator>
  <cp:lastModifiedBy>PptxGenJS</cp:lastModifiedBy>
  <cp:revision>1</cp:revision>
  <dcterms:created xsi:type="dcterms:W3CDTF">2026-06-07T18:21:25Z</dcterms:created>
  <dcterms:modified xsi:type="dcterms:W3CDTF">2026-06-07T18:21:25Z</dcterms:modified>
</cp:coreProperties>
</file>