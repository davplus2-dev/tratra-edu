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5650992" y="0"/>
            <a:ext cx="118872" cy="5143500"/>
          </a:xfrm>
          <a:prstGeom prst="rect">
            <a:avLst/>
          </a:prstGeom>
          <a:solidFill>
            <a:srgbClr val="E9C46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65760"/>
            <a:ext cx="777240" cy="7772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502920"/>
            <a:ext cx="685800" cy="685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17320"/>
            <a:ext cx="640080" cy="6400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54480"/>
            <a:ext cx="594360" cy="59436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468880"/>
            <a:ext cx="822960" cy="82296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291840"/>
            <a:ext cx="594360" cy="594360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3200400"/>
            <a:ext cx="640080" cy="64008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502920" y="777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5200" dirty="0"/>
          </a:p>
        </p:txBody>
      </p:sp>
      <p:sp>
        <p:nvSpPr>
          <p:cNvPr id="12" name="Text 3"/>
          <p:cNvSpPr/>
          <p:nvPr/>
        </p:nvSpPr>
        <p:spPr>
          <a:xfrm>
            <a:off x="502920" y="15544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Teaching</a:t>
            </a:r>
            <a:endParaRPr lang="en-US" sz="4600" dirty="0"/>
          </a:p>
        </p:txBody>
      </p:sp>
      <p:sp>
        <p:nvSpPr>
          <p:cNvPr id="13" name="Shape 4"/>
          <p:cNvSpPr/>
          <p:nvPr/>
        </p:nvSpPr>
        <p:spPr>
          <a:xfrm>
            <a:off x="502920" y="2450592"/>
            <a:ext cx="411480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5"/>
          <p:cNvSpPr/>
          <p:nvPr/>
        </p:nvSpPr>
        <p:spPr>
          <a:xfrm>
            <a:off x="502920" y="26060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2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Curriculum to Classroom: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2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for Educators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50292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F8A70"/>
                </a:solidFill>
              </a:rPr>
              <a:t>Professional Development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Planning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"Failing to plan is planning to fail. Effective teaching begins long before a teacher enters the classroom."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77440"/>
            <a:ext cx="64008" cy="118872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603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916C"/>
                </a:solidFill>
              </a:rPr>
              <a:t>Clarity of Purpose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2788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67"/>
                </a:solidFill>
              </a:rPr>
              <a:t>Planning clarifies what students should know, understand, and be able to do by lesson's end.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23774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377440"/>
            <a:ext cx="64008" cy="1188720"/>
          </a:xfrm>
          <a:prstGeom prst="rect">
            <a:avLst/>
          </a:prstGeom>
          <a:solidFill>
            <a:srgbClr val="C77B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603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B3A"/>
                </a:solidFill>
              </a:rPr>
              <a:t>Time Management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69280" y="2788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67"/>
                </a:solidFill>
              </a:rPr>
              <a:t>Well-planned lessons use time efficiently and reduce wasted transitions or unclear activities.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7033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703320"/>
            <a:ext cx="64008" cy="1188720"/>
          </a:xfrm>
          <a:prstGeom prst="rect">
            <a:avLst/>
          </a:prstGeom>
          <a:solidFill>
            <a:srgbClr val="6C63A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862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A8"/>
                </a:solidFill>
              </a:rPr>
              <a:t>Meeting Diverse Needs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80160" y="4114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67"/>
                </a:solidFill>
              </a:rPr>
              <a:t>Planning allows teachers to anticipate and accommodate different learning styles and abilities.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46320" y="37033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3703320"/>
            <a:ext cx="64008" cy="118872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8620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6928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Measurable Outcomes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669280" y="4114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67"/>
                </a:solidFill>
              </a:rPr>
              <a:t>Pre-planned assessments ensure learning can be evidenced and fed back into future teaching.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Levels of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49808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Curriculum / Scheme of 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AD8"/>
                </a:solidFill>
              </a:rPr>
              <a:t>Long-term  •  Yearly or termly overview of all topics and units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0" y="1389888"/>
            <a:ext cx="50292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001000" y="1389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2103120"/>
            <a:ext cx="6583680" cy="749808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21488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Unit / Topic Plan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68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AD8"/>
                </a:solidFill>
              </a:rPr>
              <a:t>Medium-term  •  2–6 week sequence of related lessons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78040" y="2304288"/>
            <a:ext cx="50292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3042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57400" y="3017520"/>
            <a:ext cx="5029200" cy="749808"/>
          </a:xfrm>
          <a:prstGeom prst="rect">
            <a:avLst/>
          </a:prstGeom>
          <a:solidFill>
            <a:srgbClr val="40916C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40280" y="3063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Lesson Plan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40280" y="3383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AD8"/>
                </a:solidFill>
              </a:rPr>
              <a:t>Short-term  •  Single session objectives, activities, assessment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218688"/>
            <a:ext cx="50292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2186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34640" y="3931920"/>
            <a:ext cx="3474720" cy="749808"/>
          </a:xfrm>
          <a:prstGeom prst="rect">
            <a:avLst/>
          </a:prstGeom>
          <a:solidFill>
            <a:srgbClr val="E9C46A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1752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Micro-Planning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4297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AD8"/>
                </a:solidFill>
              </a:rPr>
              <a:t>Moment-to-moment  •  Adaptive in-class decisions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23560" y="4133088"/>
            <a:ext cx="50292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41330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ECF0E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68172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367"/>
                </a:solidFill>
              </a:rPr>
              <a:t>💡  All levels interconnect — effective teachers plan coherently across all four levels.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an Effective Lesson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286000" cy="37490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880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E9C46A"/>
                </a:solidFill>
              </a:rPr>
              <a:t>LESSON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spc="300" kern="0" dirty="0">
                <a:solidFill>
                  <a:srgbClr val="E9C46A"/>
                </a:solidFill>
              </a:rPr>
              <a:t>PLAN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" y="3474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8D5B5"/>
                </a:solidFill>
              </a:rPr>
              <a:t>A living document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A8D5B5"/>
                </a:solidFill>
              </a:rPr>
              <a:t>that guides every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A8D5B5"/>
                </a:solidFill>
              </a:rPr>
              <a:t>classroom decision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34640" y="1170432"/>
            <a:ext cx="3017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834640" y="1170432"/>
            <a:ext cx="475488" cy="111556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0" name="Text 7"/>
          <p:cNvSpPr/>
          <p:nvPr/>
        </p:nvSpPr>
        <p:spPr>
          <a:xfrm>
            <a:off x="2834640" y="151790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429000" y="1243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29000" y="1554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67"/>
                </a:solidFill>
              </a:rPr>
              <a:t>What will students know or be able to do? (Use Bloom's verbs)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834640" y="2404872"/>
            <a:ext cx="3017520" cy="1115568"/>
          </a:xfrm>
          <a:prstGeom prst="rect">
            <a:avLst/>
          </a:prstGeom>
          <a:solidFill>
            <a:srgbClr val="EC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34640" y="2404872"/>
            <a:ext cx="475488" cy="111556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5" name="Text 12"/>
          <p:cNvSpPr/>
          <p:nvPr/>
        </p:nvSpPr>
        <p:spPr>
          <a:xfrm>
            <a:off x="2834640" y="275234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429000" y="24780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Prior Knowledge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2900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67"/>
                </a:solidFill>
              </a:rPr>
              <a:t>What do students already know? How does this lesson connect?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834640" y="3639312"/>
            <a:ext cx="3017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834640" y="3639312"/>
            <a:ext cx="475488" cy="111556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0" name="Text 17"/>
          <p:cNvSpPr/>
          <p:nvPr/>
        </p:nvSpPr>
        <p:spPr>
          <a:xfrm>
            <a:off x="2834640" y="398678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429000" y="3712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Lesson Sequence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29000" y="4023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67"/>
                </a:solidFill>
              </a:rPr>
              <a:t>Introduction → Development → Practice → Plenary / Closure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989320" y="1170432"/>
            <a:ext cx="3017520" cy="1115568"/>
          </a:xfrm>
          <a:prstGeom prst="rect">
            <a:avLst/>
          </a:prstGeom>
          <a:solidFill>
            <a:srgbClr val="EC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89320" y="1170432"/>
            <a:ext cx="475488" cy="111556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5" name="Text 22"/>
          <p:cNvSpPr/>
          <p:nvPr/>
        </p:nvSpPr>
        <p:spPr>
          <a:xfrm>
            <a:off x="5989320" y="151790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583680" y="1243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Resources &amp; Materials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583680" y="1554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67"/>
                </a:solidFill>
              </a:rPr>
              <a:t>Worksheets, technology, manipulatives, visual aids needed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989320" y="2404872"/>
            <a:ext cx="3017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989320" y="2404872"/>
            <a:ext cx="475488" cy="111556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0" name="Text 27"/>
          <p:cNvSpPr/>
          <p:nvPr/>
        </p:nvSpPr>
        <p:spPr>
          <a:xfrm>
            <a:off x="5989320" y="275234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583680" y="24780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Differentiation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58368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67"/>
                </a:solidFill>
              </a:rPr>
              <a:t>How will you support, extend, or adapt for diverse learners?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989320" y="3639312"/>
            <a:ext cx="3017520" cy="1115568"/>
          </a:xfrm>
          <a:prstGeom prst="rect">
            <a:avLst/>
          </a:prstGeom>
          <a:solidFill>
            <a:srgbClr val="EC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989320" y="3639312"/>
            <a:ext cx="475488" cy="111556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5" name="Text 32"/>
          <p:cNvSpPr/>
          <p:nvPr/>
        </p:nvSpPr>
        <p:spPr>
          <a:xfrm>
            <a:off x="5989320" y="398678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583680" y="3712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Assessment Strategy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583680" y="4023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67"/>
                </a:solidFill>
              </a:rPr>
              <a:t>Formative checks during lesson; summative at end or beyond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77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Effective Learning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solidFill>
            <a:srgbClr val="F8F4E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161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4332"/>
                </a:solidFill>
              </a:rPr>
              <a:t>Objectives should be  SMART: Specific · Measurable · Achievable · Relevant · Time-bound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206240"/>
            <a:ext cx="1261872" cy="530352"/>
          </a:xfrm>
          <a:prstGeom prst="rect">
            <a:avLst/>
          </a:prstGeom>
          <a:solidFill>
            <a:srgbClr val="2196A6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42611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Remember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4553712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List, Recall, Identify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91640" y="4133088"/>
            <a:ext cx="1261872" cy="603504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91640" y="41879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Understand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91640" y="4480560"/>
            <a:ext cx="1261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Explain, Summarise, Classify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4059936"/>
            <a:ext cx="1261872" cy="676656"/>
          </a:xfrm>
          <a:prstGeom prst="rect">
            <a:avLst/>
          </a:prstGeom>
          <a:solidFill>
            <a:srgbClr val="C77B3A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41148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Apply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17520" y="4407408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Use, Demonstrate, Solve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43400" y="3986784"/>
            <a:ext cx="1261872" cy="749808"/>
          </a:xfrm>
          <a:prstGeom prst="rect">
            <a:avLst/>
          </a:prstGeom>
          <a:solidFill>
            <a:srgbClr val="8E44AD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43400" y="40416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Analyse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43400" y="4334256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Compare, Differentiate, Examine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3913632"/>
            <a:ext cx="1261872" cy="8229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0" y="396849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Evaluate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0" y="4261104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Judge, Justify, Critique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95160" y="3840480"/>
            <a:ext cx="1261872" cy="896112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95160" y="389534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Create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95160" y="4187952"/>
            <a:ext cx="1261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E8"/>
                </a:solidFill>
              </a:rPr>
              <a:t>Design, Construct, Produce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179222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Bloom's Taxonomy — Action Verbs for Objectives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2176272"/>
            <a:ext cx="8412480" cy="685800"/>
          </a:xfrm>
          <a:prstGeom prst="rect">
            <a:avLst/>
          </a:prstGeom>
          <a:solidFill>
            <a:srgbClr val="EC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Example Objective: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25054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E20"/>
                </a:solidFill>
              </a:rPr>
              <a:t>"By the end of this lesson, students will be able to COMPARE the causes and effects of two historical events using evidence from primary sources."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Sequencing: Planning the Lesson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0" y="1874520"/>
            <a:ext cx="164592" cy="45720"/>
          </a:xfrm>
          <a:prstGeom prst="rect">
            <a:avLst/>
          </a:prstGeom>
          <a:solidFill>
            <a:srgbClr val="5F7367"/>
          </a:solidFill>
          <a:ln/>
        </p:spPr>
      </p:sp>
      <p:sp>
        <p:nvSpPr>
          <p:cNvPr id="5" name="Shape 3"/>
          <p:cNvSpPr/>
          <p:nvPr/>
        </p:nvSpPr>
        <p:spPr>
          <a:xfrm>
            <a:off x="1883664" y="1810512"/>
            <a:ext cx="82296" cy="173736"/>
          </a:xfrm>
          <a:prstGeom prst="rect">
            <a:avLst/>
          </a:prstGeom>
          <a:solidFill>
            <a:srgbClr val="5F7367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" y="1143000"/>
            <a:ext cx="1609344" cy="3611880"/>
          </a:xfrm>
          <a:prstGeom prst="rect">
            <a:avLst/>
          </a:prstGeom>
          <a:solidFill>
            <a:srgbClr val="C77B3A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2801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9456" y="19385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</a:rPr>
              <a:t>ENGAGE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02336" y="2331720"/>
            <a:ext cx="1243584" cy="27432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02336" y="23317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5–10 min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10896" y="2697480"/>
            <a:ext cx="14264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D8"/>
                </a:solidFill>
              </a:rPr>
              <a:t>Hook attention. Activate prior knowledge. Pose a provocative question or stimulus.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02736" y="1874520"/>
            <a:ext cx="164592" cy="45720"/>
          </a:xfrm>
          <a:prstGeom prst="rect">
            <a:avLst/>
          </a:prstGeom>
          <a:solidFill>
            <a:srgbClr val="5F7367"/>
          </a:solidFill>
          <a:ln/>
        </p:spPr>
      </p:sp>
      <p:sp>
        <p:nvSpPr>
          <p:cNvPr id="13" name="Shape 10"/>
          <p:cNvSpPr/>
          <p:nvPr/>
        </p:nvSpPr>
        <p:spPr>
          <a:xfrm>
            <a:off x="3657600" y="1810512"/>
            <a:ext cx="82296" cy="173736"/>
          </a:xfrm>
          <a:prstGeom prst="rect">
            <a:avLst/>
          </a:prstGeom>
          <a:solidFill>
            <a:srgbClr val="5F7367"/>
          </a:solidFill>
          <a:ln/>
        </p:spPr>
      </p:sp>
      <p:sp>
        <p:nvSpPr>
          <p:cNvPr id="14" name="Shape 11"/>
          <p:cNvSpPr/>
          <p:nvPr/>
        </p:nvSpPr>
        <p:spPr>
          <a:xfrm>
            <a:off x="1993392" y="1143000"/>
            <a:ext cx="1609344" cy="3611880"/>
          </a:xfrm>
          <a:prstGeom prst="rect">
            <a:avLst/>
          </a:prstGeom>
          <a:solidFill>
            <a:srgbClr val="2196A6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884" y="128016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93392" y="19385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</a:rPr>
              <a:t>EXPLORE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176272" y="2331720"/>
            <a:ext cx="1243584" cy="27432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2176272" y="23317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10–15 min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084832" y="2697480"/>
            <a:ext cx="14264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D8"/>
                </a:solidFill>
              </a:rPr>
              <a:t>Students investigate through guided activities, experiments, or collaborative tasks.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376672" y="1874520"/>
            <a:ext cx="164592" cy="45720"/>
          </a:xfrm>
          <a:prstGeom prst="rect">
            <a:avLst/>
          </a:prstGeom>
          <a:solidFill>
            <a:srgbClr val="5F7367"/>
          </a:solidFill>
          <a:ln/>
        </p:spPr>
      </p:sp>
      <p:sp>
        <p:nvSpPr>
          <p:cNvPr id="21" name="Shape 17"/>
          <p:cNvSpPr/>
          <p:nvPr/>
        </p:nvSpPr>
        <p:spPr>
          <a:xfrm>
            <a:off x="5431536" y="1810512"/>
            <a:ext cx="82296" cy="173736"/>
          </a:xfrm>
          <a:prstGeom prst="rect">
            <a:avLst/>
          </a:prstGeom>
          <a:solidFill>
            <a:srgbClr val="5F7367"/>
          </a:solidFill>
          <a:ln/>
        </p:spPr>
      </p:sp>
      <p:sp>
        <p:nvSpPr>
          <p:cNvPr id="22" name="Shape 18"/>
          <p:cNvSpPr/>
          <p:nvPr/>
        </p:nvSpPr>
        <p:spPr>
          <a:xfrm>
            <a:off x="3767328" y="1143000"/>
            <a:ext cx="1609344" cy="3611880"/>
          </a:xfrm>
          <a:prstGeom prst="rect">
            <a:avLst/>
          </a:prstGeom>
          <a:solidFill>
            <a:srgbClr val="40916C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1280160"/>
            <a:ext cx="594360" cy="594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67328" y="19385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</a:rPr>
              <a:t>EXPLAIN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3950208" y="2331720"/>
            <a:ext cx="1243584" cy="27432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3950208" y="23317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10–15 min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858768" y="2697480"/>
            <a:ext cx="14264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D8"/>
                </a:solidFill>
              </a:rPr>
              <a:t>Teacher or peers clarify concepts. Definitions, models, direct instruction where needed.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150608" y="1874520"/>
            <a:ext cx="164592" cy="45720"/>
          </a:xfrm>
          <a:prstGeom prst="rect">
            <a:avLst/>
          </a:prstGeom>
          <a:solidFill>
            <a:srgbClr val="5F7367"/>
          </a:solidFill>
          <a:ln/>
        </p:spPr>
      </p:sp>
      <p:sp>
        <p:nvSpPr>
          <p:cNvPr id="29" name="Shape 24"/>
          <p:cNvSpPr/>
          <p:nvPr/>
        </p:nvSpPr>
        <p:spPr>
          <a:xfrm>
            <a:off x="7205472" y="1810512"/>
            <a:ext cx="82296" cy="173736"/>
          </a:xfrm>
          <a:prstGeom prst="rect">
            <a:avLst/>
          </a:prstGeom>
          <a:solidFill>
            <a:srgbClr val="5F7367"/>
          </a:solidFill>
          <a:ln/>
        </p:spPr>
      </p:sp>
      <p:sp>
        <p:nvSpPr>
          <p:cNvPr id="30" name="Shape 25"/>
          <p:cNvSpPr/>
          <p:nvPr/>
        </p:nvSpPr>
        <p:spPr>
          <a:xfrm>
            <a:off x="5541264" y="1143000"/>
            <a:ext cx="1609344" cy="3611880"/>
          </a:xfrm>
          <a:prstGeom prst="rect">
            <a:avLst/>
          </a:prstGeom>
          <a:solidFill>
            <a:srgbClr val="8E44AD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756" y="1280160"/>
            <a:ext cx="594360" cy="5943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41264" y="19385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</a:rPr>
              <a:t>ELABORATE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724144" y="2331720"/>
            <a:ext cx="1243584" cy="27432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5724144" y="23317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10–15 min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632704" y="2697480"/>
            <a:ext cx="14264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D8"/>
                </a:solidFill>
              </a:rPr>
              <a:t>Apply new knowledge to new situations. Extension tasks. Deepening understanding.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315200" y="1143000"/>
            <a:ext cx="1609344" cy="361188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692" y="1280160"/>
            <a:ext cx="594360" cy="59436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315200" y="19385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</a:rPr>
              <a:t>EVALUATE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7498080" y="2331720"/>
            <a:ext cx="1243584" cy="27432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7498080" y="23317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5–10 min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7406640" y="2697480"/>
            <a:ext cx="14264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D8"/>
                </a:solidFill>
              </a:rPr>
              <a:t>Formative assessment. Exit tickets, Q&amp;A, self-assessment, peer feedback.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7367"/>
                </a:solidFill>
              </a:rPr>
              <a:t>The 5E Instructional Model  —  a flexible, research-based sequence for planning lesson flow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63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for Differentiation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474720" y="1097280"/>
            <a:ext cx="2194560" cy="2194560"/>
          </a:xfrm>
          <a:prstGeom prst="ellipse">
            <a:avLst/>
          </a:prstGeom>
          <a:solidFill>
            <a:srgbClr val="F0EDF8"/>
          </a:solidFill>
          <a:ln w="25400">
            <a:solidFill>
              <a:srgbClr val="6C63A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32588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63A8"/>
                </a:solidFill>
              </a:rPr>
              <a:t>Every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C63A8"/>
                </a:solidFill>
              </a:rPr>
              <a:t>Learner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143000"/>
            <a:ext cx="2834640" cy="1920240"/>
          </a:xfrm>
          <a:prstGeom prst="rect">
            <a:avLst/>
          </a:prstGeom>
          <a:solidFill>
            <a:srgbClr val="EC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43000"/>
            <a:ext cx="283464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6"/>
          <p:cNvSpPr/>
          <p:nvPr/>
        </p:nvSpPr>
        <p:spPr>
          <a:xfrm>
            <a:off x="429768" y="119786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1645920"/>
            <a:ext cx="2606040" cy="1344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Vary what students learn: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Tiered reading materials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Adjusted complexity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Pre-teaching vocabulary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Scaffolded notes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80760" y="1143000"/>
            <a:ext cx="2834640" cy="1920240"/>
          </a:xfrm>
          <a:prstGeom prst="rect">
            <a:avLst/>
          </a:prstGeom>
          <a:solidFill>
            <a:srgbClr val="EC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80760" y="1143000"/>
            <a:ext cx="2834640" cy="411480"/>
          </a:xfrm>
          <a:prstGeom prst="rect">
            <a:avLst/>
          </a:prstGeom>
          <a:solidFill>
            <a:srgbClr val="C77B3A"/>
          </a:solidFill>
          <a:ln/>
        </p:spPr>
      </p:sp>
      <p:sp>
        <p:nvSpPr>
          <p:cNvPr id="13" name="Text 10"/>
          <p:cNvSpPr/>
          <p:nvPr/>
        </p:nvSpPr>
        <p:spPr>
          <a:xfrm>
            <a:off x="6190488" y="119786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Process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17920" y="1645920"/>
            <a:ext cx="2606040" cy="1344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Vary how students learn: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Group vs. independent 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Visual, auditory, kinesthetic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Guided vs. open inquiry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Flexible pacing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2971800"/>
            <a:ext cx="2834640" cy="1920240"/>
          </a:xfrm>
          <a:prstGeom prst="rect">
            <a:avLst/>
          </a:prstGeom>
          <a:solidFill>
            <a:srgbClr val="EC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971800"/>
            <a:ext cx="2834640" cy="411480"/>
          </a:xfrm>
          <a:prstGeom prst="rect">
            <a:avLst/>
          </a:prstGeom>
          <a:solidFill>
            <a:srgbClr val="2196A6"/>
          </a:solidFill>
          <a:ln/>
        </p:spPr>
      </p:sp>
      <p:sp>
        <p:nvSpPr>
          <p:cNvPr id="17" name="Text 14"/>
          <p:cNvSpPr/>
          <p:nvPr/>
        </p:nvSpPr>
        <p:spPr>
          <a:xfrm>
            <a:off x="429768" y="302666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7200" y="3474720"/>
            <a:ext cx="2606040" cy="1344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Vary how students show learning: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Choice 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Projects, essays, or presentations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Oral vs. written 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Portfolio evidence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2971800"/>
            <a:ext cx="2834640" cy="1920240"/>
          </a:xfrm>
          <a:prstGeom prst="rect">
            <a:avLst/>
          </a:prstGeom>
          <a:solidFill>
            <a:srgbClr val="EC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80760" y="2971800"/>
            <a:ext cx="2834640" cy="411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1" name="Text 18"/>
          <p:cNvSpPr/>
          <p:nvPr/>
        </p:nvSpPr>
        <p:spPr>
          <a:xfrm>
            <a:off x="6190488" y="302666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Environment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217920" y="3474720"/>
            <a:ext cx="2606040" cy="1344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Vary the learning setting: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Flexible seating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Quiet zones vs. collaboration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Outdoor or digital spaces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20"/>
                </a:solidFill>
              </a:rPr>
              <a:t>• Classroom arrangement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7367"/>
                </a:solidFill>
              </a:rPr>
              <a:t>Differentiation = same goal, flexible pathways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77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Assessment Strategically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840480" cy="411480"/>
          </a:xfrm>
          <a:prstGeom prst="rect">
            <a:avLst/>
          </a:prstGeom>
          <a:solidFill>
            <a:srgbClr val="C77B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Assessment FOR Learning (Formative)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20"/>
                </a:solidFill>
              </a:rPr>
              <a:t>Happens during the lesson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20"/>
                </a:solidFill>
              </a:rPr>
              <a:t>Informs your teaching in real time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20"/>
                </a:solidFill>
              </a:rPr>
              <a:t>Examples: exit tickets, mini whiteboards, thumbs up/down, questioning, observations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33472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633472"/>
            <a:ext cx="3840480" cy="411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79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Assessment OF Learning (Summative)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118104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20"/>
                </a:solidFill>
              </a:rPr>
              <a:t>Happens after a unit or term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20"/>
                </a:solidFill>
              </a:rPr>
              <a:t>Measures cumulative achievement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20"/>
                </a:solidFill>
              </a:rPr>
              <a:t>Examples: tests, exams, projects, portfolios, presentations, essays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143000"/>
            <a:ext cx="4297680" cy="2862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143000"/>
            <a:ext cx="4297680" cy="41148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Backwards Design: Start with Assessment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420624" cy="42062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17007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Identify Desired Results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19568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67"/>
                </a:solidFill>
              </a:rPr>
              <a:t>What should students understand and be able to do?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487168"/>
            <a:ext cx="420624" cy="42062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24505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Determine Acceptable Evidence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27066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67"/>
                </a:solidFill>
              </a:rPr>
              <a:t>How will you know learning has occurred?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236976"/>
            <a:ext cx="420624" cy="420624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32004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Plan Learning Experiences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4564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67"/>
                </a:solidFill>
              </a:rPr>
              <a:t>Design lessons that lead students toward the assessment.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133088"/>
            <a:ext cx="8366760" cy="713232"/>
          </a:xfrm>
          <a:prstGeom prst="rect">
            <a:avLst/>
          </a:prstGeom>
          <a:solidFill>
            <a:srgbClr val="EC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4332"/>
                </a:solidFill>
              </a:rPr>
              <a:t>📌  Plan your assessment BEFORE your activities — it ensures every task purposefully moves students toward the learning goal.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Reflective Planning: The Adaptive Cycle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55448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9C46A"/>
                </a:solidFill>
              </a:rPr>
              <a:t>PLAN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655064"/>
            <a:ext cx="3840480" cy="2743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556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DD8"/>
                </a:solidFill>
              </a:rPr>
              <a:t>Set clear objectives, design engaging activities, prepare all resources and materials.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14800" cy="1554480"/>
          </a:xfrm>
          <a:prstGeom prst="rect">
            <a:avLst/>
          </a:prstGeom>
          <a:solidFill>
            <a:srgbClr val="C77B3A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2344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9C46A"/>
                </a:solidFill>
              </a:rPr>
              <a:t>TEACH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92040" y="1655064"/>
            <a:ext cx="3840480" cy="2743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7556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DD8"/>
                </a:solidFill>
              </a:rPr>
              <a:t>Deliver the lesson with intention, observe student responses and adapt in the moment.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4114800" cy="1554480"/>
          </a:xfrm>
          <a:prstGeom prst="rect">
            <a:avLst/>
          </a:prstGeom>
          <a:solidFill>
            <a:srgbClr val="2196A6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30175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9C46A"/>
                </a:solidFill>
              </a:rPr>
              <a:t>ASSESS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92040" y="3438144"/>
            <a:ext cx="3840480" cy="2743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5387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DD8"/>
                </a:solidFill>
              </a:rPr>
              <a:t>Gather evidence of learning through formative and summative assessment strategies.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14800" cy="1554480"/>
          </a:xfrm>
          <a:prstGeom prst="rect">
            <a:avLst/>
          </a:prstGeom>
          <a:solidFill>
            <a:srgbClr val="8E44AD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0175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9C46A"/>
                </a:solidFill>
              </a:rPr>
              <a:t>REFLECT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" y="3438144"/>
            <a:ext cx="3840480" cy="2743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5387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DD8"/>
                </a:solidFill>
              </a:rPr>
              <a:t>Ask: What worked? What didn't? What do students still need? What will I change?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62272" y="17830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7B3A"/>
                </a:solidFill>
              </a:rPr>
              <a:t>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11112" y="26517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96A6"/>
                </a:solidFill>
              </a:rPr>
              <a:t>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62272" y="35661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44AD"/>
                </a:solidFill>
              </a:rPr>
              <a:t>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31136" y="26517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6A4F"/>
                </a:solidFill>
              </a:rPr>
              <a:t>▲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30752" y="2121408"/>
            <a:ext cx="1691640" cy="1097280"/>
          </a:xfrm>
          <a:prstGeom prst="ellipse">
            <a:avLst/>
          </a:prstGeom>
          <a:solidFill>
            <a:srgbClr val="ECF0EB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30752" y="2240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Continuous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Cycle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8412480" cy="43891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60857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C46A"/>
                </a:solidFill>
              </a:rPr>
              <a:t>Reflection Prompts: Did all students meet the objective?  ·  Which strategies worked best?  ·  What would I change?  ·  Who needs more support?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"/>
            <a:ext cx="164592" cy="481888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2BBA0"/>
                </a:solidFill>
              </a:rPr>
              <a:t>Planning is the foundation of every great lesson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64008" cy="1508760"/>
          </a:xfrm>
          <a:prstGeom prst="rect">
            <a:avLst/>
          </a:prstGeom>
          <a:solidFill>
            <a:srgbClr val="E9C46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81912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527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C46A"/>
                </a:solidFill>
              </a:rPr>
              <a:t>Plan at every level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80160" y="18745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DD1"/>
                </a:solidFill>
              </a:rPr>
              <a:t>Long-term, medium-term, and lesson planning all serve different but interconnected purposes.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46320" y="1417320"/>
            <a:ext cx="402336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417320"/>
            <a:ext cx="64008" cy="1508760"/>
          </a:xfrm>
          <a:prstGeom prst="rect">
            <a:avLst/>
          </a:prstGeom>
          <a:solidFill>
            <a:srgbClr val="E9C46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8191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0" y="1527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C46A"/>
                </a:solidFill>
              </a:rPr>
              <a:t>Start with outcomes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69280" y="18745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DD1"/>
                </a:solidFill>
              </a:rPr>
              <a:t>Clear, measurable learning objectives steer all decisions about content, activities, and assessment.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" y="3081528"/>
            <a:ext cx="402336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081528"/>
            <a:ext cx="64008" cy="1508760"/>
          </a:xfrm>
          <a:prstGeom prst="rect">
            <a:avLst/>
          </a:prstGeom>
          <a:solidFill>
            <a:srgbClr val="E9C46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461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1912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C46A"/>
                </a:solidFill>
              </a:rPr>
              <a:t>Plan for every learner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280160" y="353872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DD1"/>
                </a:solidFill>
              </a:rPr>
              <a:t>Effective differentiation is not an afterthought — it must be embedded from the outset.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846320" y="3081528"/>
            <a:ext cx="402336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46320" y="3081528"/>
            <a:ext cx="64008" cy="1508760"/>
          </a:xfrm>
          <a:prstGeom prst="rect">
            <a:avLst/>
          </a:prstGeom>
          <a:solidFill>
            <a:srgbClr val="E9C46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461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69280" y="31912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C46A"/>
                </a:solidFill>
              </a:rPr>
              <a:t>Reflect and adapt continuously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669280" y="353872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DD1"/>
                </a:solidFill>
              </a:rPr>
              <a:t>The best plans are living documents — revisited and refined in response to what students show you.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C46A"/>
                </a:solidFill>
              </a:rPr>
              <a:t>Thank You  ·  Questions &amp; Discussion Welcome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in Teaching</dc:title>
  <dc:subject>PptxGenJS Presentation</dc:subject>
  <dc:creator>Professional Development</dc:creator>
  <cp:lastModifiedBy>Professional Development</cp:lastModifiedBy>
  <cp:revision>1</cp:revision>
  <dcterms:created xsi:type="dcterms:W3CDTF">2026-06-06T19:08:21Z</dcterms:created>
  <dcterms:modified xsi:type="dcterms:W3CDTF">2026-06-06T19:08:21Z</dcterms:modified>
</cp:coreProperties>
</file>