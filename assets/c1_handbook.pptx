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640080"/>
            <a:ext cx="1371600" cy="13716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286000"/>
            <a:ext cx="9144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64008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PHILOSOPHY</a:t>
            </a:r>
            <a:endParaRPr lang="en-US" sz="4200" dirty="0"/>
          </a:p>
          <a:p>
            <a:pPr indent="0" marL="0">
              <a:buNone/>
            </a:pPr>
            <a:r>
              <a:rPr lang="en-US" sz="42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PSYCHOLOGY</a:t>
            </a:r>
            <a:endParaRPr lang="en-US" sz="4200" dirty="0"/>
          </a:p>
        </p:txBody>
      </p:sp>
      <p:sp>
        <p:nvSpPr>
          <p:cNvPr id="8" name="Text 4"/>
          <p:cNvSpPr/>
          <p:nvPr/>
        </p:nvSpPr>
        <p:spPr>
          <a:xfrm>
            <a:off x="411480" y="22402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F0C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A TEACHER</a:t>
            </a:r>
            <a:endParaRPr lang="en-US" sz="3000" dirty="0"/>
          </a:p>
        </p:txBody>
      </p:sp>
      <p:sp>
        <p:nvSpPr>
          <p:cNvPr id="9" name="Shape 5"/>
          <p:cNvSpPr/>
          <p:nvPr/>
        </p:nvSpPr>
        <p:spPr>
          <a:xfrm>
            <a:off x="411480" y="3017520"/>
            <a:ext cx="36576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11480" y="32004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 beliefs, mindsets, and inner world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shape great teaching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1148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educators committed to growth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WE'LL EXPLORE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" y="1078992"/>
            <a:ext cx="4251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078992"/>
            <a:ext cx="530352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216152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1155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Teaching Philosophy?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Beliefs that guide every decision in the classroom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" y="1874520"/>
            <a:ext cx="4251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" y="1874520"/>
            <a:ext cx="530352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011680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19110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Psychological Identity of a Teacher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2128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 are shapes how you teach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" y="2670048"/>
            <a:ext cx="4251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2608" y="2670048"/>
            <a:ext cx="530352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807208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70662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Philosophical Traditions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0083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Socrates to Dewey — ideas that endure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2608" y="3465576"/>
            <a:ext cx="4251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2608" y="3465576"/>
            <a:ext cx="530352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3602736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5021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Growth Mindset in Teaching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8039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Dweck and the power of 'yet'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2608" y="4261104"/>
            <a:ext cx="4251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2608" y="4261104"/>
            <a:ext cx="530352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4398264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42976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Intelligence &amp; Empathy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5994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affective foundations of great teaching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1078992"/>
            <a:ext cx="4251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078992"/>
            <a:ext cx="530352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216152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76672" y="11155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Motivation &amp; Meaning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76672" y="14173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drive, purpose, and vocation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1874520"/>
            <a:ext cx="4251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1874520"/>
            <a:ext cx="530352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011680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76672" y="19110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Beliefs About Learning &amp; Learners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76672" y="22128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see students changes what they become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2670048"/>
            <a:ext cx="4251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670048"/>
            <a:ext cx="530352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807208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76672" y="270662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the Moral Dimension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76672" y="30083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as a deeply ethical act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3465576"/>
            <a:ext cx="4251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3465576"/>
            <a:ext cx="530352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602736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376672" y="35021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 Practice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76672" y="38039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Schön's reflective practitioner framework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54880" y="4261104"/>
            <a:ext cx="4251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54880" y="4261104"/>
            <a:ext cx="530352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4398264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376672" y="42976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376672" y="45994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and personal commitments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WHAT IS A TEACHING PHILOSOPHY?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9601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1556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"Tell me and I forget. Teach me and I remember. Involve me and I learn."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Benjamin Franklin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41148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176272"/>
            <a:ext cx="4114800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219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Teaching Philosophy Is...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" y="2880360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78892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core beliefs about the purpose of education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" y="3410712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331927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statement of values guiding daily decisions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" y="3941064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84962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'why' behind every lesson, interaction, and rule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" y="4471416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437997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and evolving — not a document, but a practice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176272"/>
            <a:ext cx="41148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176272"/>
            <a:ext cx="4114800" cy="4754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2219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28032" y="2880360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278892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consistency when situations are ambiguous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28032" y="3410712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7488" y="331927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you communicate your approach to students &amp; parents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28032" y="3941064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384962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you during professional challenges and doubt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28032" y="4471416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47488" y="437997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continuous growth and self-awareness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THE PSYCHOLOGICAL IDENTITY OF A TEACHER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520440" y="1737360"/>
            <a:ext cx="2103120" cy="1188720"/>
          </a:xfrm>
          <a:prstGeom prst="ellipse">
            <a:avLst/>
          </a:prstGeom>
          <a:solidFill>
            <a:srgbClr val="1B3A2D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520440" y="1874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TEACHER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2926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51560"/>
            <a:ext cx="475488" cy="12801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46304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6968" y="11887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History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86968" y="15544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schooling shapes your defaults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43600" y="1051560"/>
            <a:ext cx="2926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0" y="1051560"/>
            <a:ext cx="475488" cy="12801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46304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10528" y="11887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Beliefs &amp; Values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510528" y="15544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 and epistemological convictions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0040" y="3108960"/>
            <a:ext cx="2926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3108960"/>
            <a:ext cx="475488" cy="12801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352044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6968" y="32461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Identity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86968" y="3611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'Am I a guide, expert, facilitator, or mentor?'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943600" y="3108960"/>
            <a:ext cx="2926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943600" y="3108960"/>
            <a:ext cx="475488" cy="12801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352044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10528" y="32461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Landscape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510528" y="3611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failure, joy of connection, pride in growth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246120" y="1920240"/>
            <a:ext cx="274320" cy="0"/>
          </a:xfrm>
          <a:prstGeom prst="line">
            <a:avLst/>
          </a:prstGeom>
          <a:noFill/>
          <a:ln w="12700">
            <a:solidFill>
              <a:srgbClr val="D4A017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5623560" y="1920240"/>
            <a:ext cx="320040" cy="0"/>
          </a:xfrm>
          <a:prstGeom prst="line">
            <a:avLst/>
          </a:prstGeom>
          <a:noFill/>
          <a:ln w="12700">
            <a:solidFill>
              <a:srgbClr val="D4A017"/>
            </a:solidFill>
            <a:prstDash val="dash"/>
          </a:ln>
        </p:spPr>
      </p:sp>
      <p:sp>
        <p:nvSpPr>
          <p:cNvPr id="29" name="Shape 23"/>
          <p:cNvSpPr/>
          <p:nvPr/>
        </p:nvSpPr>
        <p:spPr>
          <a:xfrm>
            <a:off x="3246120" y="2834640"/>
            <a:ext cx="274320" cy="0"/>
          </a:xfrm>
          <a:prstGeom prst="line">
            <a:avLst/>
          </a:prstGeom>
          <a:noFill/>
          <a:ln w="12700">
            <a:solidFill>
              <a:srgbClr val="D4A017"/>
            </a:solidFill>
            <a:prstDash val="dash"/>
          </a:ln>
        </p:spPr>
      </p:sp>
      <p:sp>
        <p:nvSpPr>
          <p:cNvPr id="30" name="Shape 24"/>
          <p:cNvSpPr/>
          <p:nvPr/>
        </p:nvSpPr>
        <p:spPr>
          <a:xfrm>
            <a:off x="5623560" y="2834640"/>
            <a:ext cx="320040" cy="0"/>
          </a:xfrm>
          <a:prstGeom prst="line">
            <a:avLst/>
          </a:prstGeom>
          <a:noFill/>
          <a:ln w="12700">
            <a:solidFill>
              <a:srgbClr val="D4A017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CORE PHILOSOPHICAL TRADITIONS IN EDUCATION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92608" y="1078992"/>
            <a:ext cx="8503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078992"/>
            <a:ext cx="1371600" cy="676656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1338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14447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Method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64208" y="1078992"/>
            <a:ext cx="64008" cy="67665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47088" y="1188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through questioning to reveal truth and provoke critical thinking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" y="1883664"/>
            <a:ext cx="8503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2608" y="1883664"/>
            <a:ext cx="1371600" cy="676656"/>
          </a:xfrm>
          <a:prstGeom prst="rect">
            <a:avLst/>
          </a:prstGeom>
          <a:solidFill>
            <a:srgbClr val="3A4A1B"/>
          </a:solidFill>
          <a:ln w="12700">
            <a:solidFill>
              <a:srgbClr val="3A4A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19385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Dewey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" y="22494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Pragmatism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64208" y="1883664"/>
            <a:ext cx="64008" cy="676656"/>
          </a:xfrm>
          <a:prstGeom prst="rect">
            <a:avLst/>
          </a:prstGeom>
          <a:solidFill>
            <a:srgbClr val="6A7A2D"/>
          </a:solidFill>
          <a:ln w="12700">
            <a:solidFill>
              <a:srgbClr val="6A7A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47088" y="19933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by doing; education as a social process rooted in real experience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2608" y="2688336"/>
            <a:ext cx="8503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688336"/>
            <a:ext cx="1371600" cy="676656"/>
          </a:xfrm>
          <a:prstGeom prst="rect">
            <a:avLst/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27432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" y="30540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Pedagogy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64208" y="2688336"/>
            <a:ext cx="64008" cy="676656"/>
          </a:xfrm>
          <a:prstGeom prst="rect">
            <a:avLst/>
          </a:prstGeom>
          <a:solidFill>
            <a:srgbClr val="2D4A6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47088" y="27980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'Banking' vs. 'problem-posing' — education as liberation, not deposit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2608" y="3493008"/>
            <a:ext cx="8503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92608" y="3493008"/>
            <a:ext cx="1371600" cy="676656"/>
          </a:xfrm>
          <a:prstGeom prst="rect">
            <a:avLst/>
          </a:prstGeom>
          <a:solidFill>
            <a:srgbClr val="3A1B2A"/>
          </a:solidFill>
          <a:ln w="12700">
            <a:solidFill>
              <a:srgbClr val="3A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3547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Vygotsky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8328" y="38587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Constructivism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64208" y="3493008"/>
            <a:ext cx="64008" cy="676656"/>
          </a:xfrm>
          <a:prstGeom prst="rect">
            <a:avLst/>
          </a:prstGeom>
          <a:solidFill>
            <a:srgbClr val="6A2D4A"/>
          </a:solidFill>
          <a:ln w="12700">
            <a:solidFill>
              <a:srgbClr val="6A2D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47088" y="360273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of Proximal Development — scaffolding learning just beyond reach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2608" y="4297680"/>
            <a:ext cx="8503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4297680"/>
            <a:ext cx="1371600" cy="676656"/>
          </a:xfrm>
          <a:prstGeom prst="rect">
            <a:avLst/>
          </a:prstGeom>
          <a:solidFill>
            <a:srgbClr val="1B3A3A"/>
          </a:solidFill>
          <a:ln w="12700">
            <a:solidFill>
              <a:srgbClr val="1B3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" y="43525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8328" y="46634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Child-Centred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664208" y="4297680"/>
            <a:ext cx="64008" cy="676656"/>
          </a:xfrm>
          <a:prstGeom prst="rect">
            <a:avLst/>
          </a:prstGeom>
          <a:solidFill>
            <a:srgbClr val="2D6A6A"/>
          </a:solidFill>
          <a:ln w="12700">
            <a:solidFill>
              <a:srgbClr val="2D6A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47088" y="44074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curiosity drives learning; the teacher as prepared environment guide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THE GROWTH MINDSET IN TEACHING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" y="1078992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078992"/>
            <a:ext cx="4206240" cy="502920"/>
          </a:xfrm>
          <a:prstGeom prst="rect">
            <a:avLst/>
          </a:prstGeom>
          <a:solidFill>
            <a:srgbClr val="7A3030"/>
          </a:solidFill>
          <a:ln w="12700">
            <a:solidFill>
              <a:srgbClr val="7A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247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FIXED MINDSET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" y="1828800"/>
            <a:ext cx="164592" cy="164592"/>
          </a:xfrm>
          <a:prstGeom prst="ellipse">
            <a:avLst/>
          </a:prstGeom>
          <a:solidFill>
            <a:srgbClr val="7A3030"/>
          </a:solidFill>
          <a:ln w="12700">
            <a:solidFill>
              <a:srgbClr val="7A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37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is innate and unchangeable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" y="2468880"/>
            <a:ext cx="164592" cy="164592"/>
          </a:xfrm>
          <a:prstGeom prst="ellipse">
            <a:avLst/>
          </a:prstGeom>
          <a:solidFill>
            <a:srgbClr val="7A3030"/>
          </a:solidFill>
          <a:ln w="12700">
            <a:solidFill>
              <a:srgbClr val="7A3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77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difficult challenges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" y="3108960"/>
            <a:ext cx="164592" cy="164592"/>
          </a:xfrm>
          <a:prstGeom prst="ellipse">
            <a:avLst/>
          </a:prstGeom>
          <a:solidFill>
            <a:srgbClr val="7A3030"/>
          </a:solidFill>
          <a:ln w="12700">
            <a:solidFill>
              <a:srgbClr val="7A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17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up when students struggle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" y="3749040"/>
            <a:ext cx="164592" cy="164592"/>
          </a:xfrm>
          <a:prstGeom prst="ellipse">
            <a:avLst/>
          </a:prstGeom>
          <a:solidFill>
            <a:srgbClr val="7A3030"/>
          </a:solidFill>
          <a:ln w="12700">
            <a:solidFill>
              <a:srgbClr val="7A3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6576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effort as pointless for 'weak' students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" y="4389120"/>
            <a:ext cx="164592" cy="164592"/>
          </a:xfrm>
          <a:prstGeom prst="ellipse">
            <a:avLst/>
          </a:prstGeom>
          <a:solidFill>
            <a:srgbClr val="7A3030"/>
          </a:solidFill>
          <a:ln w="12700">
            <a:solidFill>
              <a:srgbClr val="7A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97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Threatened by students who outperform expectations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27448" y="1078992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27448" y="1078992"/>
            <a:ext cx="420624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11247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 MINDSET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10328" y="1828800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1737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and skill develop with effort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10328" y="2468880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2377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Embraces challenge as part of learning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10328" y="3108960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3017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Persists; tries different approaches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10328" y="3749040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36576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Praises process, strategy, and effort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10328" y="4389120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4297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Celebrates unexpected breakthroughs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2608" y="47091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5C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"Not yet is the most powerful phrase in a teacher's vocabulary." — Carol Dweck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EMOTIONAL INTELLIGENCE &amp; EMPATHY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" y="1078992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078992"/>
            <a:ext cx="2743200" cy="4572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17043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11704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Self-Awareness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02336" y="164592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Recognising your own emotions and how they influence your teaching style and reactions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18688" y="1078992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18688" y="1078992"/>
            <a:ext cx="2743200" cy="457200"/>
          </a:xfrm>
          <a:prstGeom prst="rect">
            <a:avLst/>
          </a:prstGeom>
          <a:solidFill>
            <a:srgbClr val="3A4A1B"/>
          </a:solidFill>
          <a:ln w="12700">
            <a:solidFill>
              <a:srgbClr val="3A4A1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17043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75888" y="11704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Self-Regulation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28416" y="164592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emotional responses in high-pressure classroom moments without losing composure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44768" y="1078992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44768" y="1078992"/>
            <a:ext cx="2743200" cy="457200"/>
          </a:xfrm>
          <a:prstGeom prst="rect">
            <a:avLst/>
          </a:prstGeom>
          <a:solidFill>
            <a:srgbClr val="3A1B2A"/>
          </a:solidFill>
          <a:ln w="12700">
            <a:solidFill>
              <a:srgbClr val="3A1B2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17043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01968" y="11704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54496" y="164592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students' emotional worlds — the prerequisite for genuine connection and trust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92608" y="2953512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92608" y="2953512"/>
            <a:ext cx="2743200" cy="457200"/>
          </a:xfrm>
          <a:prstGeom prst="rect">
            <a:avLst/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04495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30449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Skills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02336" y="352044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rapport, reading group dynamics, and navigating conflict constructively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18688" y="2953512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18688" y="2953512"/>
            <a:ext cx="2743200" cy="457200"/>
          </a:xfrm>
          <a:prstGeom prst="rect">
            <a:avLst/>
          </a:prstGeom>
          <a:solidFill>
            <a:srgbClr val="3A3A1B"/>
          </a:solidFill>
          <a:ln w="12700">
            <a:solidFill>
              <a:srgbClr val="3A3A1B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04495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675888" y="30449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328416" y="352044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driven by intrinsic purpose even when outcomes are slow or uncertain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144768" y="2953512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44768" y="2953512"/>
            <a:ext cx="2743200" cy="457200"/>
          </a:xfrm>
          <a:prstGeom prst="rect">
            <a:avLst/>
          </a:prstGeom>
          <a:solidFill>
            <a:srgbClr val="1B3A3A"/>
          </a:solidFill>
          <a:ln w="12700">
            <a:solidFill>
              <a:srgbClr val="1B3A3A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3044952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01968" y="30449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Safety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254496" y="352044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classroom climate where students feel safe to take risks and be vulnerable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TEACHER MOTIVATION &amp; MEANING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Sustains Teachers?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3474720" cy="5303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093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&amp; Legacy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8470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a lasting impact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2240280"/>
            <a:ext cx="2926080" cy="530352"/>
          </a:xfrm>
          <a:prstGeom prst="rect">
            <a:avLst/>
          </a:prstGeom>
          <a:solidFill>
            <a:srgbClr val="3A7D5E"/>
          </a:solidFill>
          <a:ln w="12700">
            <a:solidFill>
              <a:srgbClr val="3A7D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76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&amp; Growth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craft over time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" y="2907792"/>
            <a:ext cx="2377440" cy="5303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944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31821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Freedom to teach creatively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143000" y="3575304"/>
            <a:ext cx="1828800" cy="53035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3611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38496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with colleagues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417320" y="4242816"/>
            <a:ext cx="1280160" cy="530352"/>
          </a:xfrm>
          <a:prstGeom prst="rect">
            <a:avLst/>
          </a:prstGeom>
          <a:solidFill>
            <a:srgbClr val="1B2A1B"/>
          </a:solidFill>
          <a:ln w="12700">
            <a:solidFill>
              <a:srgbClr val="1B2A1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42793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08760" y="45171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Stability, support &amp; respect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078992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078992"/>
            <a:ext cx="4206240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12471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Self-Determination Theory (Deci &amp; Ryan)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81728" y="1856232"/>
            <a:ext cx="365760" cy="365760"/>
          </a:xfrm>
          <a:prstGeom prst="ellipse">
            <a:avLst/>
          </a:prstGeom>
          <a:solidFill>
            <a:srgbClr val="1B3A2D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7448" y="1874520"/>
            <a:ext cx="256032" cy="25603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138928" y="17922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Autonomy: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138928" y="20848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over how and what you teach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681728" y="2679192"/>
            <a:ext cx="365760" cy="365760"/>
          </a:xfrm>
          <a:prstGeom prst="ellipse">
            <a:avLst/>
          </a:prstGeom>
          <a:solidFill>
            <a:srgbClr val="1B3A2D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697480"/>
            <a:ext cx="256032" cy="25603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138928" y="26151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Competence: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5138928" y="29077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and visible student growth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681728" y="3502152"/>
            <a:ext cx="365760" cy="365760"/>
          </a:xfrm>
          <a:prstGeom prst="ellipse">
            <a:avLst/>
          </a:prstGeom>
          <a:solidFill>
            <a:srgbClr val="1B3A2D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3520440"/>
            <a:ext cx="256032" cy="25603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138928" y="34381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Relatedness: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5138928" y="37307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connection with students and colleagues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4681728" y="4325112"/>
            <a:ext cx="365760" cy="365760"/>
          </a:xfrm>
          <a:prstGeom prst="ellipse">
            <a:avLst/>
          </a:prstGeom>
          <a:solidFill>
            <a:srgbClr val="1B3A2D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4343400"/>
            <a:ext cx="256032" cy="25603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138928" y="42611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5138928" y="45537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as vocation, not just occupation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07–08  BELIEFS, ETHICS &amp; THE MORAL DIMENSION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92608" y="1078992"/>
            <a:ext cx="420624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247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Beliefs About Learners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" y="1664208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664208"/>
            <a:ext cx="73152" cy="6766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7099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students can learn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9933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Sets unconditional high expectations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" y="2468880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2608" y="2468880"/>
            <a:ext cx="73152" cy="6766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5146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has value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27980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Drives equitable treatment and attention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" y="3273552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2608" y="3273552"/>
            <a:ext cx="73152" cy="6766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3192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 is natural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360273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Designs lessons that spark, not suppress, wonder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" y="4078224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2608" y="4078224"/>
            <a:ext cx="73152" cy="6766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41239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shapes behaviour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" y="440740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Responds to disruption with understanding first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078992"/>
            <a:ext cx="4206240" cy="4572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1247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Ethical Dimension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36592" y="1783080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169164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is a moral act — you shape worldviews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36592" y="2331720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224028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imbalance demands humility and care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36592" y="2880360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278892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means equity, not just equality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36592" y="3429000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333756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dignity of each student are sacred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36592" y="3977640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388620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biases affect who gets called on, praised, or challenged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736592" y="4526280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443484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ethics: confidentiality, honesty, accountability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  REFLECTIVE PRACTICE — SCHÖN'S FRAMEWORK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92608" y="1078992"/>
            <a:ext cx="4206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078992"/>
            <a:ext cx="420624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115568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Reflection-IN-Action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" y="1463040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while teaching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mid-lesson when students seem lost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24505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room and shifting your approach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72384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29809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Improvising questions based on student responses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602736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35112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micro-adjustments to pacing and tone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27448" y="1078992"/>
            <a:ext cx="4206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27448" y="1078992"/>
            <a:ext cx="4206240" cy="6858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176" y="1115568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Reflection-ON-Action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37176" y="1463040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after teaching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2011680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11496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Journalling after lessons: what worked and why?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92040" y="2542032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11496" y="24505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patterns across a week or unit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92040" y="3072384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11496" y="29809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feedback from peers or observers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92040" y="3602736"/>
            <a:ext cx="137160" cy="1371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11496" y="35112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Revising plans based on student performance data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92608" y="4160520"/>
            <a:ext cx="8503920" cy="80467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2245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reflective teacher is never finished — each lesson is a hypothesis, each class a new experiment in human growth.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822960"/>
            <a:ext cx="32004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005840"/>
            <a:ext cx="4206240" cy="69494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005840"/>
            <a:ext cx="475488" cy="6949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16128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9536" y="109728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philosophy is your compass — without it, you drift with every new trend or policy.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" y="1828800"/>
            <a:ext cx="4206240" cy="69494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" y="1828800"/>
            <a:ext cx="475488" cy="6949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98424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9536" y="192024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shapes pedagogy: know yourself to teach effectively and authentically.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" y="2651760"/>
            <a:ext cx="4206240" cy="69494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2651760"/>
            <a:ext cx="475488" cy="6949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8072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9536" y="274320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thinkers from Socrates to Freire still have urgent things to teach us.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" y="3474720"/>
            <a:ext cx="4206240" cy="69494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3474720"/>
            <a:ext cx="475488" cy="6949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363016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9536" y="356616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growth mindset in the teacher is the prerequisite for growth mindset in students.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2608" y="4297680"/>
            <a:ext cx="4206240" cy="69494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" y="4297680"/>
            <a:ext cx="475488" cy="6949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445312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59536" y="438912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intelligence is not a soft skill — it is the core skill of teaching.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27448" y="1005840"/>
            <a:ext cx="4206240" cy="69494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27448" y="1005840"/>
            <a:ext cx="475488" cy="6949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7448" y="116128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94376" y="109728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teaching is built on purpose, autonomy, and human connection.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27448" y="1828800"/>
            <a:ext cx="4206240" cy="69494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27448" y="1828800"/>
            <a:ext cx="475488" cy="6949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27448" y="198424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94376" y="192024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believe about students becomes a self-fulfilling prophecy — choose wisely.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27448" y="2651760"/>
            <a:ext cx="4206240" cy="69494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27448" y="2651760"/>
            <a:ext cx="475488" cy="6949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27448" y="28072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294376" y="274320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is inherently ethical. Every decision has a moral dimension.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27448" y="3474720"/>
            <a:ext cx="4206240" cy="69494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27448" y="3474720"/>
            <a:ext cx="475488" cy="6949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27448" y="363016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294376" y="356616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 practice is the discipline that turns experience into expertise.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27448" y="4297680"/>
            <a:ext cx="4206240" cy="69494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27448" y="4297680"/>
            <a:ext cx="475488" cy="6949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27448" y="445312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294376" y="438912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teachers are perpetual learners — philosophy and psychology never stop evolving.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Philosophy and Psychology of a Teacher</dc:title>
  <dc:subject>PptxGenJS Presentation</dc:subject>
  <dc:creator>PptxGenJS</dc:creator>
  <cp:lastModifiedBy>PptxGenJS</cp:lastModifiedBy>
  <cp:revision>1</cp:revision>
  <dcterms:created xsi:type="dcterms:W3CDTF">2026-06-06T16:21:06Z</dcterms:created>
  <dcterms:modified xsi:type="dcterms:W3CDTF">2026-06-06T16:21:06Z</dcterms:modified>
</cp:coreProperties>
</file>