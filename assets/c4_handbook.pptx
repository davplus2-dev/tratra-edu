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Attendance Data</c:v>
                </c:pt>
              </c:strCache>
            </c:strRef>
          </c:tx>
          <c:spPr>
            <a:solidFill>
              <a:srgbClr val="1ABC9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Attendance Data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Assessment Results</c:v>
                </c:pt>
              </c:strCache>
            </c:strRef>
          </c:tx>
          <c:spPr>
            <a:solidFill>
              <a:srgbClr val="2980B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Assessment Results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78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Staff Performance</c:v>
                </c:pt>
              </c:strCache>
            </c:strRef>
          </c:tx>
          <c:spPr>
            <a:solidFill>
              <a:srgbClr val="F39C1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Staff Performance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85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Budget Utilisation</c:v>
                </c:pt>
              </c:strCache>
            </c:strRef>
          </c:tx>
          <c:spPr>
            <a:solidFill>
              <a:srgbClr val="8E44A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Budget Utilisation</c:v>
                  </c:pt>
                </c:lvl>
              </c:multiLvlStrCache>
            </c:multiLvl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9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365760" cy="5070348"/>
          </a:xfrm>
          <a:prstGeom prst="rect">
            <a:avLst/>
          </a:prstGeom>
          <a:solidFill>
            <a:srgbClr val="1ABC9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82296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46304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Administration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Guide for Educators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65760" y="3657600"/>
            <a:ext cx="8412480" cy="73152"/>
          </a:xfrm>
          <a:prstGeom prst="rect">
            <a:avLst/>
          </a:prstGeom>
          <a:solidFill>
            <a:srgbClr val="1ABC9C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Teaching Professionals  |  School Leadership Series  |  2025–2026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384048" cy="59436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06984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School Administration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55648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FDFEFE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755648"/>
            <a:ext cx="384048" cy="59436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755648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181965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Leadership Styles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505456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2505456"/>
            <a:ext cx="384048" cy="59436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505456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256946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Management &amp; Support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255264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FDFEFE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3255264"/>
            <a:ext cx="384048" cy="59436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255264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31927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Affairs &amp; Welfare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4005072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4005072"/>
            <a:ext cx="384048" cy="59436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005072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4069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Oversight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100584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4846320" y="1005840"/>
            <a:ext cx="384048" cy="5943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005840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106984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Policies &amp; Governance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1755648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FDFEFE"/>
          </a:solidFill>
          <a:ln/>
        </p:spPr>
      </p:sp>
      <p:sp>
        <p:nvSpPr>
          <p:cNvPr id="29" name="Shape 27"/>
          <p:cNvSpPr/>
          <p:nvPr/>
        </p:nvSpPr>
        <p:spPr>
          <a:xfrm>
            <a:off x="4846320" y="1755648"/>
            <a:ext cx="384048" cy="5943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755648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03520" y="181965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&amp; Parental Engagement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46320" y="2505456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EBF5FB"/>
          </a:solidFill>
          <a:ln/>
        </p:spPr>
      </p:sp>
      <p:sp>
        <p:nvSpPr>
          <p:cNvPr id="33" name="Shape 31"/>
          <p:cNvSpPr/>
          <p:nvPr/>
        </p:nvSpPr>
        <p:spPr>
          <a:xfrm>
            <a:off x="4846320" y="2505456"/>
            <a:ext cx="384048" cy="5943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505456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03520" y="256946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 Making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46320" y="3255264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FDFEFE"/>
          </a:solidFill>
          <a:ln/>
        </p:spPr>
      </p:sp>
      <p:sp>
        <p:nvSpPr>
          <p:cNvPr id="37" name="Shape 35"/>
          <p:cNvSpPr/>
          <p:nvPr/>
        </p:nvSpPr>
        <p:spPr>
          <a:xfrm>
            <a:off x="4846320" y="3255264"/>
            <a:ext cx="384048" cy="5943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255264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03520" y="331927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in Administration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846320" y="4005072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EBF5FB"/>
          </a:solidFill>
          <a:ln/>
        </p:spPr>
      </p:sp>
      <p:sp>
        <p:nvSpPr>
          <p:cNvPr id="41" name="Shape 39"/>
          <p:cNvSpPr/>
          <p:nvPr/>
        </p:nvSpPr>
        <p:spPr>
          <a:xfrm>
            <a:off x="4846320" y="4005072"/>
            <a:ext cx="384048" cy="5943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4005072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03520" y="4069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Best Practices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Role of School Administration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840480" cy="16459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63500" dist="25400" dir="8100000">
              <a:srgbClr val="AAAAA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3840480" cy="64008"/>
          </a:xfrm>
          <a:prstGeom prst="rect">
            <a:avLst/>
          </a:prstGeom>
          <a:solidFill>
            <a:srgbClr val="1ABC9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1887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16128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Leadership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30352" y="164592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educational vision and oversee curriculum quality across all grade levels.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960120"/>
            <a:ext cx="3840480" cy="16459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63500" dist="25400" dir="8100000">
              <a:srgbClr val="AAAAAA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960120"/>
            <a:ext cx="3840480" cy="64008"/>
          </a:xfrm>
          <a:prstGeom prst="rect">
            <a:avLst/>
          </a:prstGeom>
          <a:solidFill>
            <a:srgbClr val="1ABC9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1887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04688" y="116128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Management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19472" y="164592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Recruit, evaluate, and support teachers to ensure professional excellence.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65760" y="2880360"/>
            <a:ext cx="3840480" cy="16459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63500" dist="25400" dir="8100000">
              <a:srgbClr val="AAAAAA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5760" y="2880360"/>
            <a:ext cx="3840480" cy="64008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10896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15568" y="30815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Implementation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30352" y="356616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district policies into actionable school-level procedures.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54880" y="2880360"/>
            <a:ext cx="3840480" cy="16459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63500" dist="25400" dir="8100000">
              <a:srgbClr val="AAAAAA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880360"/>
            <a:ext cx="3840480" cy="64008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10896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04688" y="30815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Relations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919472" y="356616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communication between teachers, parents, and the community.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Effective Leadership Styles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20240" cy="41148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1920240" cy="24688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1732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Inspires change and motivates staff to exceed expectations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1737360" cy="64008"/>
          </a:xfrm>
          <a:prstGeom prst="rect">
            <a:avLst/>
          </a:prstGeom>
          <a:solidFill>
            <a:srgbClr val="1ABC9C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9260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3154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reform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50592" y="914400"/>
            <a:ext cx="1920240" cy="41148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2" name="Text 10"/>
          <p:cNvSpPr/>
          <p:nvPr/>
        </p:nvSpPr>
        <p:spPr>
          <a:xfrm>
            <a:off x="2450592" y="914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50592" y="1325880"/>
            <a:ext cx="1920240" cy="24688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2542032" y="141732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teaching quality and direct involvement in curriculum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42032" y="2834640"/>
            <a:ext cx="1737360" cy="64008"/>
          </a:xfrm>
          <a:prstGeom prst="rect">
            <a:avLst/>
          </a:prstGeom>
          <a:solidFill>
            <a:srgbClr val="2980B9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542032" y="29260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42032" y="3154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improvement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26864" y="914400"/>
            <a:ext cx="1920240" cy="4114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9" name="Text 17"/>
          <p:cNvSpPr/>
          <p:nvPr/>
        </p:nvSpPr>
        <p:spPr>
          <a:xfrm>
            <a:off x="4626864" y="914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26864" y="1325880"/>
            <a:ext cx="1920240" cy="24688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1" name="Text 19"/>
          <p:cNvSpPr/>
          <p:nvPr/>
        </p:nvSpPr>
        <p:spPr>
          <a:xfrm>
            <a:off x="4718304" y="141732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leadership across teacher-leaders and department heads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18304" y="2834640"/>
            <a:ext cx="1737360" cy="64008"/>
          </a:xfrm>
          <a:prstGeom prst="rect">
            <a:avLst/>
          </a:prstGeom>
          <a:solidFill>
            <a:srgbClr val="F39C12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718304" y="29260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18304" y="3154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empowerment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03136" y="914400"/>
            <a:ext cx="1920240" cy="41148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6" name="Text 24"/>
          <p:cNvSpPr/>
          <p:nvPr/>
        </p:nvSpPr>
        <p:spPr>
          <a:xfrm>
            <a:off x="6803136" y="914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Servant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03136" y="1325880"/>
            <a:ext cx="1920240" cy="24688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8" name="Text 26"/>
          <p:cNvSpPr/>
          <p:nvPr/>
        </p:nvSpPr>
        <p:spPr>
          <a:xfrm>
            <a:off x="6894576" y="141732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Prioritises the needs of staff and students above personal authority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94576" y="2834640"/>
            <a:ext cx="1737360" cy="64008"/>
          </a:xfrm>
          <a:prstGeom prst="rect">
            <a:avLst/>
          </a:prstGeom>
          <a:solidFill>
            <a:srgbClr val="8E44AD">
              <a:alpha val="6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894576" y="29260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94576" y="3154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culture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3977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skilled administrator adapts their leadership style to context, staff needs, and school goals.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Teacher Management &amp; Support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Strategies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527048"/>
            <a:ext cx="256032" cy="256032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4630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appraisal and constructive performance reviews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256032" cy="256032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08483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professional development programmes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770632"/>
            <a:ext cx="256032" cy="256032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706624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communication of expectations and school goals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392424"/>
            <a:ext cx="256032" cy="256032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32841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and reward for teacher excellence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4014216"/>
            <a:ext cx="256032" cy="256032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95020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Mentoring schemes for newly qualified teachers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914400"/>
            <a:ext cx="3931920" cy="35661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005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Growth Cycle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0" y="1554480"/>
            <a:ext cx="3566160" cy="41148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554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Goal Setting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0" y="2103120"/>
            <a:ext cx="3566160" cy="4114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2103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Classroom Observation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0" y="2651760"/>
            <a:ext cx="3566160" cy="41148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651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Feedback &amp; Review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0" y="3200400"/>
            <a:ext cx="3566160" cy="4114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32004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Professional Development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0" y="3749040"/>
            <a:ext cx="3566160" cy="41148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3749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Evaluation &amp; Renewal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Student Affairs &amp; Welfare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50292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60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651760" cy="10972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36192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&amp; intervene early for chronic absenteeism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51760" cy="5029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960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651760" cy="10972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536192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Restorative approaches over punitive measures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651760" cy="5029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960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Wellbeing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651760" cy="10972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536192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mental health, safety, and inclusion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27432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Pillars of Student Support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64008" cy="59436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2004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Environment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" y="34747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Zero-tolerance for bullying; clear safeguarding protocols.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200400"/>
            <a:ext cx="64008" cy="59436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1" name="Text 19"/>
          <p:cNvSpPr/>
          <p:nvPr/>
        </p:nvSpPr>
        <p:spPr>
          <a:xfrm>
            <a:off x="4956048" y="32004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Education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56048" y="34747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SEN, gifted learners, and diverse needs.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977640"/>
            <a:ext cx="64008" cy="59436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39776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Voice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6928" y="42519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Councils and forums giving students an active role.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3977640"/>
            <a:ext cx="64008" cy="59436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7" name="Text 25"/>
          <p:cNvSpPr/>
          <p:nvPr/>
        </p:nvSpPr>
        <p:spPr>
          <a:xfrm>
            <a:off x="4956048" y="39776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Pastoral Care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56048" y="42519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counsellors and form tutor systems.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Curriculum Oversight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Administrator's Role in Curriculum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17904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14630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national curriculum standards are met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66544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9808" y="20116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heads of department in subject planning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615184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9808" y="25603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lesson quality through learning walks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163824"/>
            <a:ext cx="292608" cy="292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49808" y="31089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exam and assessment data for trends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712464"/>
            <a:ext cx="292608" cy="2926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49808" y="36576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cross-curricular links and innovation</a:t>
            </a:r>
            <a:endParaRPr lang="en-US" sz="13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4261104"/>
            <a:ext cx="292608" cy="29260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49808" y="42062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timetable and resources effectively</a:t>
            </a:r>
            <a:endParaRPr lang="en-US" sz="1300" dirty="0"/>
          </a:p>
        </p:txBody>
      </p:sp>
      <p:sp>
        <p:nvSpPr>
          <p:cNvPr id="17" name="Shape 9"/>
          <p:cNvSpPr/>
          <p:nvPr/>
        </p:nvSpPr>
        <p:spPr>
          <a:xfrm>
            <a:off x="4754880" y="914400"/>
            <a:ext cx="4023360" cy="38404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8" name="Text 10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Planning Cycle</a:t>
            </a:r>
            <a:endParaRPr lang="en-US" sz="1400" dirty="0"/>
          </a:p>
        </p:txBody>
      </p:sp>
      <p:sp>
        <p:nvSpPr>
          <p:cNvPr id="19" name="Shape 11"/>
          <p:cNvSpPr/>
          <p:nvPr/>
        </p:nvSpPr>
        <p:spPr>
          <a:xfrm>
            <a:off x="4937760" y="1508760"/>
            <a:ext cx="3657600" cy="38404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0" name="Text 12"/>
          <p:cNvSpPr/>
          <p:nvPr/>
        </p:nvSpPr>
        <p:spPr>
          <a:xfrm>
            <a:off x="4937760" y="15087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Review &amp; Audit</a:t>
            </a:r>
            <a:endParaRPr lang="en-US" sz="1200" dirty="0"/>
          </a:p>
        </p:txBody>
      </p:sp>
      <p:sp>
        <p:nvSpPr>
          <p:cNvPr id="21" name="Shape 13"/>
          <p:cNvSpPr/>
          <p:nvPr/>
        </p:nvSpPr>
        <p:spPr>
          <a:xfrm>
            <a:off x="4937760" y="2011680"/>
            <a:ext cx="3657600" cy="384048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2" name="Text 14"/>
          <p:cNvSpPr/>
          <p:nvPr/>
        </p:nvSpPr>
        <p:spPr>
          <a:xfrm>
            <a:off x="4937760" y="20116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Set Learning Goals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4937760" y="2514600"/>
            <a:ext cx="3657600" cy="38404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4" name="Text 16"/>
          <p:cNvSpPr/>
          <p:nvPr/>
        </p:nvSpPr>
        <p:spPr>
          <a:xfrm>
            <a:off x="4937760" y="25146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Plan &amp; Resource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4937760" y="3017520"/>
            <a:ext cx="3657600" cy="384048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6" name="Text 18"/>
          <p:cNvSpPr/>
          <p:nvPr/>
        </p:nvSpPr>
        <p:spPr>
          <a:xfrm>
            <a:off x="4937760" y="30175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Deliver &amp; Monitor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4937760" y="3520440"/>
            <a:ext cx="3657600" cy="38404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8" name="Text 20"/>
          <p:cNvSpPr/>
          <p:nvPr/>
        </p:nvSpPr>
        <p:spPr>
          <a:xfrm>
            <a:off x="4937760" y="3520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Assess &amp; Evaluate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4937760" y="4023360"/>
            <a:ext cx="3657600" cy="384048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0" name="Text 22"/>
          <p:cNvSpPr/>
          <p:nvPr/>
        </p:nvSpPr>
        <p:spPr>
          <a:xfrm>
            <a:off x="4937760" y="40233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Reflect &amp; Improve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&amp; 07  |  Governance, Policies &amp; Community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657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Policies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3931920" cy="47548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984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body accountability and reporting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39319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470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compliance and legal obligations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377440"/>
            <a:ext cx="3931920" cy="47548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957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financial management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39319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9443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Safety policy enforcement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474720"/>
            <a:ext cx="3931920" cy="47548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49300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Equality, diversity, and inclusion policies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023360"/>
            <a:ext cx="39319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0416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grievance and disciplinary procedures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914400"/>
            <a:ext cx="3931920" cy="36576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Engagement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46320" y="1280160"/>
            <a:ext cx="3931920" cy="47548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2984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parent consultation events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1828800"/>
            <a:ext cx="39319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18470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communication channels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2377440"/>
            <a:ext cx="3931920" cy="47548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23957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Parent-Teacher Associations (PTA)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2926080"/>
            <a:ext cx="39319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29443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business and charity partnerships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3474720"/>
            <a:ext cx="3931920" cy="47548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349300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Newsletter, website, and social media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46320" y="4023360"/>
            <a:ext cx="39319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40416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days and community outreach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&amp; 09  |  Data, Decision Making &amp; Technology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Sources for Administrators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37160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Tools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754880" y="1371600"/>
            <a:ext cx="4114800" cy="566928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8" name="Shape 5"/>
          <p:cNvSpPr/>
          <p:nvPr/>
        </p:nvSpPr>
        <p:spPr>
          <a:xfrm>
            <a:off x="4754880" y="1371600"/>
            <a:ext cx="320040" cy="566928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9" name="Text 6"/>
          <p:cNvSpPr/>
          <p:nvPr/>
        </p:nvSpPr>
        <p:spPr>
          <a:xfrm>
            <a:off x="5166360" y="140817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MIS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166360" y="166420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records, timetabling, and reporting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2029968"/>
            <a:ext cx="41148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4754880" y="2029968"/>
            <a:ext cx="320040" cy="56692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3" name="Text 10"/>
          <p:cNvSpPr/>
          <p:nvPr/>
        </p:nvSpPr>
        <p:spPr>
          <a:xfrm>
            <a:off x="5166360" y="20665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E-Learning Platforms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166360" y="232257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Classroom, Teams, or Moodle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0" y="2688336"/>
            <a:ext cx="4114800" cy="566928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6" name="Shape 13"/>
          <p:cNvSpPr/>
          <p:nvPr/>
        </p:nvSpPr>
        <p:spPr>
          <a:xfrm>
            <a:off x="4754880" y="2688336"/>
            <a:ext cx="320040" cy="566928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7" name="Text 14"/>
          <p:cNvSpPr/>
          <p:nvPr/>
        </p:nvSpPr>
        <p:spPr>
          <a:xfrm>
            <a:off x="5166360" y="27249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Tools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166360" y="298094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apps, email broadcast, SMS alerts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54880" y="3346704"/>
            <a:ext cx="41148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4754880" y="3346704"/>
            <a:ext cx="320040" cy="56692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1" name="Text 18"/>
          <p:cNvSpPr/>
          <p:nvPr/>
        </p:nvSpPr>
        <p:spPr>
          <a:xfrm>
            <a:off x="5166360" y="33832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Payroll Systems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166360" y="363931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management and compliance tracking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754880" y="4005072"/>
            <a:ext cx="4114800" cy="566928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4" name="Shape 21"/>
          <p:cNvSpPr/>
          <p:nvPr/>
        </p:nvSpPr>
        <p:spPr>
          <a:xfrm>
            <a:off x="4754880" y="4005072"/>
            <a:ext cx="320040" cy="566928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5" name="Text 22"/>
          <p:cNvSpPr/>
          <p:nvPr/>
        </p:nvSpPr>
        <p:spPr>
          <a:xfrm>
            <a:off x="5166360" y="40416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Safeguarding Software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166360" y="42976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CPOMS or similar incident logging tools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|  Challenges &amp; Best Practices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75488" cy="475488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25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36245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leadership sets the tone for school culture and learning outcomes.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029968"/>
            <a:ext cx="475488" cy="47548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029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06654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thrive when they feel valued, supported, and professionally developed.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2734056"/>
            <a:ext cx="475488" cy="475488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734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277063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informs better decisions — use it routinely, not just at inspection time.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3438144"/>
            <a:ext cx="475488" cy="47548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4381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3474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and parental partnerships amplify student success.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5760" y="4142232"/>
            <a:ext cx="475488" cy="475488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142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417880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administration is built on clear policies, accountability, and transparency.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art of leadership is saying no, not yes. It is very easy to say yes." — T. Blair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Administration</dc:title>
  <dc:subject>PptxGenJS Presentation</dc:subject>
  <dc:creator>PptxGenJS</dc:creator>
  <cp:lastModifiedBy>PptxGenJS</cp:lastModifiedBy>
  <cp:revision>1</cp:revision>
  <dcterms:created xsi:type="dcterms:W3CDTF">2026-06-06T19:23:23Z</dcterms:created>
  <dcterms:modified xsi:type="dcterms:W3CDTF">2026-06-06T19:23:23Z</dcterms:modified>
</cp:coreProperties>
</file>